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1764506"/>
            <a:ext cx="103584" cy="1875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SOUTENANCE ACADÉMIQUE · 2026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28613" y="4818459"/>
            <a:ext cx="14287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00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457325" y="850106"/>
            <a:ext cx="70723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ÉTUDE QUANTITATIVE · STARTUP TUNISIA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1457325" y="1125141"/>
            <a:ext cx="5429250" cy="928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2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Étude quantitative du Startup Act tunisien</a:t>
            </a:r>
            <a:endParaRPr lang="en-US" sz="2950" dirty="0"/>
          </a:p>
        </p:txBody>
      </p:sp>
      <p:sp>
        <p:nvSpPr>
          <p:cNvPr id="9" name="Text 6"/>
          <p:cNvSpPr/>
          <p:nvPr/>
        </p:nvSpPr>
        <p:spPr>
          <a:xfrm>
            <a:off x="1457325" y="2224608"/>
            <a:ext cx="4643438" cy="443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Sessions de labellisation, corrections de données et dynamiques territoriales — 2019–2026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57325" y="4311253"/>
            <a:ext cx="289321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Faker BEN NOOMEN</a:t>
            </a:r>
            <a:r>
              <a:rPr lang="en-US" sz="8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8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Mastère professionnel en Veille et Intelligence Compétitive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275659" y="4311253"/>
            <a:ext cx="2110978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ESEN Manouba × ISCAE Manouba</a:t>
            </a:r>
            <a:r>
              <a:rPr lang="en-US" sz="8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8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Présentation de soutenance · 21 août 2026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840266" y="471488"/>
            <a:ext cx="746522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95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4950" dirty="0"/>
          </a:p>
        </p:txBody>
      </p:sp>
      <p:sp>
        <p:nvSpPr>
          <p:cNvPr id="13" name="Text 10"/>
          <p:cNvSpPr/>
          <p:nvPr/>
        </p:nvSpPr>
        <p:spPr>
          <a:xfrm>
            <a:off x="6872288" y="4396978"/>
            <a:ext cx="1685925" cy="246459"/>
          </a:xfrm>
          <a:prstGeom prst="rect">
            <a:avLst/>
          </a:prstGeom>
          <a:noFill/>
          <a:ln/>
        </p:spPr>
        <p:txBody>
          <a:bodyPr wrap="square" lIns="110617" tIns="76581" rIns="110617" bIns="76581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DONNÉES · MÉTHODE · PREUVE</a:t>
            </a:r>
            <a:endParaRPr lang="en-US" sz="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6515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65154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068227"/>
            <a:ext cx="103584" cy="1289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CADRE INSTITUTIONNEL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44686" y="4840114"/>
            <a:ext cx="11072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85888" y="414338"/>
            <a:ext cx="50006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01 · CADRE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85888" y="617934"/>
            <a:ext cx="5000625" cy="657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Le Startup Act : un dispositif à mesurer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847409" y="414338"/>
            <a:ext cx="739378" cy="6893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4300" dirty="0"/>
          </a:p>
        </p:txBody>
      </p:sp>
      <p:sp>
        <p:nvSpPr>
          <p:cNvPr id="10" name="Shape 7"/>
          <p:cNvSpPr/>
          <p:nvPr/>
        </p:nvSpPr>
        <p:spPr>
          <a:xfrm>
            <a:off x="1385888" y="1782589"/>
            <a:ext cx="7200900" cy="828675"/>
          </a:xfrm>
          <a:prstGeom prst="rect">
            <a:avLst/>
          </a:prstGeom>
          <a:solidFill>
            <a:srgbClr val="E3EBF2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385888" y="1782589"/>
            <a:ext cx="7200900" cy="5000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564481" y="2037978"/>
            <a:ext cx="52863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20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093119" y="2116559"/>
            <a:ext cx="1857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MESURES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950494" y="2026927"/>
            <a:ext cx="40719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cadre public tunisien structuré autour d’un Label de mérite et d’avantages pour startups, entrepreneurs et investisseurs.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385888" y="2725564"/>
            <a:ext cx="7200900" cy="828675"/>
          </a:xfrm>
          <a:prstGeom prst="rect">
            <a:avLst/>
          </a:prstGeom>
          <a:solidFill>
            <a:srgbClr val="DBE9E8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385888" y="2725564"/>
            <a:ext cx="7200900" cy="50006"/>
          </a:xfrm>
          <a:prstGeom prst="rect">
            <a:avLst/>
          </a:prstGeom>
          <a:solidFill>
            <a:srgbClr val="2D7D7B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564481" y="2980953"/>
            <a:ext cx="52863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2093119" y="3059534"/>
            <a:ext cx="1857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STATUTS CLÉS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950494" y="2969902"/>
            <a:ext cx="40719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Pré-Label prépare l’accès au dispositif ; le Label formalise la reconnaissance de la startup.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385888" y="3668539"/>
            <a:ext cx="7200900" cy="828675"/>
          </a:xfrm>
          <a:prstGeom prst="rect">
            <a:avLst/>
          </a:prstGeom>
          <a:solidFill>
            <a:srgbClr val="D9E2EC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385888" y="3668539"/>
            <a:ext cx="7200900" cy="50006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564481" y="3923928"/>
            <a:ext cx="528638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85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2093119" y="4002509"/>
            <a:ext cx="18573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SESSIONS OBSERVÉES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950494" y="3912877"/>
            <a:ext cx="4071938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corpus permet de suivre les volumes, les décisions, les corrections et les dynamiques territoriales sur 2019–2026.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385888" y="4697239"/>
            <a:ext cx="72009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: Startup Tunisia, About Startup Act et page officielle des résultats.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14287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284214"/>
            <a:ext cx="103584" cy="8929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PROBLÉMATIQUE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2184" y="4975622"/>
            <a:ext cx="1357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257300" y="242888"/>
            <a:ext cx="542925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02 · PROBLÉMATIQUE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257300" y="446484"/>
            <a:ext cx="5429250" cy="674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La question n’est pas seulement combien, mais comment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947422" y="242888"/>
            <a:ext cx="739378" cy="877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257300" y="1327956"/>
            <a:ext cx="2901758" cy="1518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Que révèlent </a:t>
            </a:r>
            <a:r>
              <a:rPr lang="en-US" sz="170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85 </a:t>
            </a:r>
            <a:r>
              <a:rPr lang="en-US" sz="170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sessions</a:t>
            </a: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 de </a:t>
            </a: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labellisation sur la </a:t>
            </a: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sélection et la </a:t>
            </a:r>
            <a:r>
              <a:rPr lang="en-US" sz="17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diffusion territoriale 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57300" y="2988878"/>
            <a:ext cx="2901758" cy="797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L’étude cherche à produire un état des lieux quantitatif, traçable et reproductible, sans transformer des agrégats administratifs en causalités qui ne sont pas observées.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737702" y="1456544"/>
            <a:ext cx="232172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01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737702" y="1767297"/>
            <a:ext cx="18887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VOLUMES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37702" y="1974466"/>
            <a:ext cx="188879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 évoluent candidatures et décisions entre 2019 et 2026 ?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797948" y="1456544"/>
            <a:ext cx="27146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02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797948" y="1767297"/>
            <a:ext cx="18887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SÉLECTION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797948" y="1974466"/>
            <a:ext cx="188879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taux de Label varie-t-il avec la taille des sessions ?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37702" y="2531678"/>
            <a:ext cx="267891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03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737702" y="2842431"/>
            <a:ext cx="18887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TERRITOIRE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37702" y="3049600"/>
            <a:ext cx="188879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dispositif se diffuse-t-il au-delà du Grand Tunis ?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797948" y="2531678"/>
            <a:ext cx="27503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04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797948" y="2842431"/>
            <a:ext cx="1888796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FIABILITÉ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797948" y="3049600"/>
            <a:ext cx="188879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données publiées sont-elles cohérentes et auditables ?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257300" y="4628369"/>
            <a:ext cx="74295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 de recherche construite à partir du rapport académique et du guide d’étude quantitative.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12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512352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456111"/>
            <a:ext cx="103584" cy="8608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MÉTHODOLOGIE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2184" y="5187255"/>
            <a:ext cx="1357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57313" y="385763"/>
            <a:ext cx="542925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03 · MÉTHODE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57313" y="582216"/>
            <a:ext cx="5429250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Une méthode en quatre couches pour sécuriser les chiffres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936706" y="385763"/>
            <a:ext cx="707231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2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1357313" y="1512243"/>
            <a:ext cx="5643563" cy="528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design quantitatif, longitudinal et documentaire, complété par un audit de provenance. Chaque couche répond à une question différente et évite de confondre agrégat institutionnel et ligne individuelle.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57313" y="2311952"/>
            <a:ext cx="1746647" cy="1985963"/>
          </a:xfrm>
          <a:prstGeom prst="rect">
            <a:avLst/>
          </a:prstGeom>
          <a:solidFill>
            <a:srgbClr val="E3EBF2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357313" y="2311952"/>
            <a:ext cx="1746647" cy="5715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85900" y="2454827"/>
            <a:ext cx="148947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485900" y="2865593"/>
            <a:ext cx="14894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485900" y="3112052"/>
            <a:ext cx="1489472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85 sessions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dates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normalisées et compteurs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officiels. L’unité principale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mesure le rythme du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dispositif.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203972" y="2311952"/>
            <a:ext cx="1746647" cy="1985963"/>
          </a:xfrm>
          <a:prstGeom prst="rect">
            <a:avLst/>
          </a:prstGeom>
          <a:solidFill>
            <a:srgbClr val="DBE9E8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3203972" y="2311952"/>
            <a:ext cx="1746647" cy="57150"/>
          </a:xfrm>
          <a:prstGeom prst="rect">
            <a:avLst/>
          </a:prstGeom>
          <a:solidFill>
            <a:srgbClr val="2D7D7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32559" y="2454827"/>
            <a:ext cx="148947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D7D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332559" y="2865593"/>
            <a:ext cx="14894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DÉCISIONS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32559" y="3112052"/>
            <a:ext cx="1489472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Lignes PDF, sociétés,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fondateurs, secteurs et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résultats. L’unité détaillée est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</a:t>
            </a:r>
            <a:r>
              <a:rPr lang="en-US" sz="7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ligne de décision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50631" y="2311952"/>
            <a:ext cx="1746647" cy="1985963"/>
          </a:xfrm>
          <a:prstGeom prst="rect">
            <a:avLst/>
          </a:prstGeom>
          <a:solidFill>
            <a:srgbClr val="E0E8EF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050631" y="2311952"/>
            <a:ext cx="1746647" cy="57150"/>
          </a:xfrm>
          <a:prstGeom prst="rect">
            <a:avLst/>
          </a:prstGeom>
          <a:solidFill>
            <a:srgbClr val="829AB1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179219" y="2454827"/>
            <a:ext cx="148947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27D9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5179219" y="2865593"/>
            <a:ext cx="14894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RAPPORTS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179219" y="3112052"/>
            <a:ext cx="1489472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Rapports annuels 2019, 2020 et 2021 pour la géographie, l’internationalisation et les emplois.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897291" y="2311952"/>
            <a:ext cx="1746647" cy="1985963"/>
          </a:xfrm>
          <a:prstGeom prst="rect">
            <a:avLst/>
          </a:prstGeom>
          <a:solidFill>
            <a:srgbClr val="D9E2EC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897291" y="2311952"/>
            <a:ext cx="1746647" cy="57150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025878" y="2454827"/>
            <a:ext cx="1489472" cy="282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7025878" y="2865593"/>
            <a:ext cx="1489472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AUDIT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025878" y="3112052"/>
            <a:ext cx="1489472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Comparaison des tables initiales, corrections, PDF et agrégats, avec conservation des écarts et limites.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357313" y="4612239"/>
            <a:ext cx="23097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POPULATION PRINCIPALE</a:t>
            </a:r>
            <a:endParaRPr lang="en-US" sz="550" dirty="0"/>
          </a:p>
        </p:txBody>
      </p:sp>
      <p:sp>
        <p:nvSpPr>
          <p:cNvPr id="32" name="Text 29"/>
          <p:cNvSpPr/>
          <p:nvPr/>
        </p:nvSpPr>
        <p:spPr>
          <a:xfrm>
            <a:off x="1357313" y="4751543"/>
            <a:ext cx="182522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 sessions de labellisation Startup Act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845682" y="4612239"/>
            <a:ext cx="2309831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INDICATEUR CENTRAL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3845682" y="4751543"/>
            <a:ext cx="12715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Labels / candidatures × 100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334106" y="4612239"/>
            <a:ext cx="2309831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RÈGLE DE PRUDENCE</a:t>
            </a:r>
            <a:endParaRPr lang="en-US" sz="550" dirty="0"/>
          </a:p>
        </p:txBody>
      </p:sp>
      <p:sp>
        <p:nvSpPr>
          <p:cNvPr id="36" name="Text 33"/>
          <p:cNvSpPr/>
          <p:nvPr/>
        </p:nvSpPr>
        <p:spPr>
          <a:xfrm>
            <a:off x="6334106" y="4751543"/>
            <a:ext cx="188237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données manquantes ne sont jamais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334106" y="4883702"/>
            <a:ext cx="45005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inventées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1357313" y="5151593"/>
            <a:ext cx="728662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: dépôt de recherche, comptes rendus PDF, corrections documentées et rapports annuels Startup Tunisia.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142875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0" y="600075"/>
            <a:ext cx="8001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AUDIT DES DONNÉES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921544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228725" y="242888"/>
            <a:ext cx="542925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04 · CONTRÔLE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228725" y="446484"/>
            <a:ext cx="5429250" cy="657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Les corrections changent le diagnostic statistique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8001000" y="242888"/>
            <a:ext cx="714375" cy="6893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05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228725" y="1429476"/>
            <a:ext cx="1428750" cy="8743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7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21</a:t>
            </a:r>
            <a:endParaRPr lang="en-US" sz="7500" dirty="0"/>
          </a:p>
        </p:txBody>
      </p:sp>
      <p:sp>
        <p:nvSpPr>
          <p:cNvPr id="11" name="Text 8"/>
          <p:cNvSpPr/>
          <p:nvPr/>
        </p:nvSpPr>
        <p:spPr>
          <a:xfrm>
            <a:off x="2857500" y="1296814"/>
            <a:ext cx="140017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sessions corrigées sur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857500" y="1480040"/>
            <a:ext cx="16430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857500" y="1713272"/>
            <a:ext cx="1535906" cy="723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Une correction documentée, pas une estimation.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1228725" y="2586596"/>
            <a:ext cx="3507581" cy="1453753"/>
          </a:xfrm>
          <a:prstGeom prst="rect">
            <a:avLst/>
          </a:prstGeom>
          <a:solidFill>
            <a:srgbClr val="E3EBF2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57313" y="2700896"/>
            <a:ext cx="32504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TABLE INITIALE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357313" y="3100946"/>
            <a:ext cx="3643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807619" y="2933067"/>
            <a:ext cx="8001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1 324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357313" y="3651014"/>
            <a:ext cx="5107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Prélabels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118372" y="3483136"/>
            <a:ext cx="48934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617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4736306" y="2586596"/>
            <a:ext cx="471488" cy="145375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8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→</a:t>
            </a:r>
            <a:endParaRPr lang="en-US" sz="1850" dirty="0"/>
          </a:p>
        </p:txBody>
      </p:sp>
      <p:sp>
        <p:nvSpPr>
          <p:cNvPr id="21" name="Shape 18"/>
          <p:cNvSpPr/>
          <p:nvPr/>
        </p:nvSpPr>
        <p:spPr>
          <a:xfrm>
            <a:off x="5207794" y="2536589"/>
            <a:ext cx="3507581" cy="1503759"/>
          </a:xfrm>
          <a:prstGeom prst="rect">
            <a:avLst/>
          </a:prstGeom>
          <a:solidFill>
            <a:srgbClr val="DBE9E8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5207794" y="2536589"/>
            <a:ext cx="3507581" cy="50006"/>
          </a:xfrm>
          <a:prstGeom prst="rect">
            <a:avLst/>
          </a:prstGeom>
          <a:solidFill>
            <a:srgbClr val="2D7D7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336381" y="2650889"/>
            <a:ext cx="32504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TABLE CORRIGÉE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336381" y="3050939"/>
            <a:ext cx="36433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918847" y="2883061"/>
            <a:ext cx="667941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1 311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5336381" y="3601008"/>
            <a:ext cx="5107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Prélabels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993856" y="3433130"/>
            <a:ext cx="592931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623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1228725" y="4204655"/>
            <a:ext cx="3679031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Variation observée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−13 Labels et +6 Prélabels après rapprochement avec les sources de session.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036344" y="4204655"/>
            <a:ext cx="3679031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Règle analytique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compteurs officiels et les lignes individuelles PDF restent conservés dans 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 couches distinctes.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228725" y="4710299"/>
            <a:ext cx="74866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corrections.json, rapports PDF et documentation méthodologique du dépôt.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005608"/>
            <a:ext cx="103584" cy="1393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RÉSULTATS QUANTITATIFS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4818459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85888" y="392906"/>
            <a:ext cx="60721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05 · RÉSULTATS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85888" y="589359"/>
            <a:ext cx="6072188" cy="640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85 sessions, 3 393 candidatures, 1 934 décisions positives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847409" y="392906"/>
            <a:ext cx="753666" cy="837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06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385888" y="1822884"/>
            <a:ext cx="375186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LABELS + PRÉLABELS ACCORDÉS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385888" y="1997906"/>
            <a:ext cx="3751864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5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1 934</a:t>
            </a:r>
            <a:endParaRPr lang="en-US" sz="5500" dirty="0"/>
          </a:p>
        </p:txBody>
      </p:sp>
      <p:sp>
        <p:nvSpPr>
          <p:cNvPr id="12" name="Text 9"/>
          <p:cNvSpPr/>
          <p:nvPr/>
        </p:nvSpPr>
        <p:spPr>
          <a:xfrm>
            <a:off x="1385888" y="2769431"/>
            <a:ext cx="3751864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 total descriptif de décisions positives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09227" y="2063986"/>
            <a:ext cx="3091793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1 311</a:t>
            </a:r>
            <a:r>
              <a:rPr lang="en-US" sz="13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Labels</a:t>
            </a:r>
            <a:r>
              <a:rPr lang="en-US" sz="13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
</a:t>
            </a:r>
            <a:r>
              <a:rPr lang="en-US" sz="13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623</a:t>
            </a:r>
            <a:r>
              <a:rPr lang="en-US" sz="13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Prélabels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385888" y="3523097"/>
            <a:ext cx="165913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3 393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1385888" y="3912431"/>
            <a:ext cx="1659136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CANDIDATURES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385888" y="4090299"/>
            <a:ext cx="1659136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Somme du tableau corrigé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237905" y="3523097"/>
            <a:ext cx="165913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44,3 %</a:t>
            </a:r>
            <a:endParaRPr lang="en-US" sz="2050" dirty="0"/>
          </a:p>
        </p:txBody>
      </p:sp>
      <p:sp>
        <p:nvSpPr>
          <p:cNvPr id="18" name="Text 15"/>
          <p:cNvSpPr/>
          <p:nvPr/>
        </p:nvSpPr>
        <p:spPr>
          <a:xfrm>
            <a:off x="3237905" y="3912431"/>
            <a:ext cx="1659136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TAUX DE LABEL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237905" y="4090299"/>
            <a:ext cx="1659136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Labels / candidatures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5089922" y="3523097"/>
            <a:ext cx="165913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34,8</a:t>
            </a:r>
            <a:endParaRPr lang="en-US" sz="2050" dirty="0"/>
          </a:p>
        </p:txBody>
      </p:sp>
      <p:sp>
        <p:nvSpPr>
          <p:cNvPr id="21" name="Text 18"/>
          <p:cNvSpPr/>
          <p:nvPr/>
        </p:nvSpPr>
        <p:spPr>
          <a:xfrm>
            <a:off x="5089922" y="3912431"/>
            <a:ext cx="1659136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MOYENNE / SESSION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089922" y="4090299"/>
            <a:ext cx="1659136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Candidatures par session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6941939" y="3523097"/>
            <a:ext cx="1659136" cy="33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36</a:t>
            </a:r>
            <a:endParaRPr lang="en-US" sz="2050" dirty="0"/>
          </a:p>
        </p:txBody>
      </p:sp>
      <p:sp>
        <p:nvSpPr>
          <p:cNvPr id="24" name="Text 21"/>
          <p:cNvSpPr/>
          <p:nvPr/>
        </p:nvSpPr>
        <p:spPr>
          <a:xfrm>
            <a:off x="6941939" y="3912431"/>
            <a:ext cx="1659136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MÉDIANE / SESSION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941939" y="4090299"/>
            <a:ext cx="1659136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Candidatures par session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1385888" y="4387100"/>
            <a:ext cx="6786563" cy="248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Précaution d’interprétation.</a:t>
            </a: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 total 1 934 additionne deux statuts distincts. Il ne constitue pas automatiquement un taux individuel de réussite, car une trajectoire </a:t>
            </a: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Prélabel → Label peut relier plusieurs étapes administratives.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828675"/>
            <a:ext cx="103584" cy="14608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TRAJECTOIRE TEMPORELLE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2532459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42900"/>
            <a:ext cx="58578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06 · RÉSULTATS TEMPORELS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39353"/>
            <a:ext cx="5857875" cy="657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2021 concentre le plus grand volume de candidatures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983141" y="342900"/>
            <a:ext cx="675084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07</a:t>
            </a:r>
            <a:endParaRPr lang="en-US" sz="4300" dirty="0"/>
          </a:p>
        </p:txBody>
      </p:sp>
      <p:sp>
        <p:nvSpPr>
          <p:cNvPr id="10" name="Shape 7"/>
          <p:cNvSpPr/>
          <p:nvPr/>
        </p:nvSpPr>
        <p:spPr>
          <a:xfrm>
            <a:off x="1343025" y="1403970"/>
            <a:ext cx="5429250" cy="2996803"/>
          </a:xfrm>
          <a:prstGeom prst="rect">
            <a:avLst/>
          </a:prstGeom>
          <a:solidFill>
            <a:srgbClr val="E3EBF2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343025" y="1403970"/>
            <a:ext cx="5429250" cy="5000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5" y="1503983"/>
            <a:ext cx="5200650" cy="2600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57325" y="4161458"/>
            <a:ext cx="52006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tableau corrigé des 85 sessions. Les valeurs 2026 couvrent trois sessions seulement.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7072313" y="1518270"/>
            <a:ext cx="1585913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478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7072313" y="1871886"/>
            <a:ext cx="15859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CANDIDATURES EN 2021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7072313" y="2046908"/>
            <a:ext cx="1585913" cy="28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maximum annuel observé dans le corpus.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7072313" y="2566615"/>
            <a:ext cx="1585913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245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7072313" y="2920231"/>
            <a:ext cx="15859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LABELS EN 2021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7072313" y="3095253"/>
            <a:ext cx="1585913" cy="28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volume annuel de Labels le plus élevé.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7072313" y="3614961"/>
            <a:ext cx="1585913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7"/>
          <p:cNvSpPr/>
          <p:nvPr/>
        </p:nvSpPr>
        <p:spPr>
          <a:xfrm>
            <a:off x="7072313" y="3968576"/>
            <a:ext cx="15859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SESSIONS EN 2026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7072313" y="4143598"/>
            <a:ext cx="1585913" cy="425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année partielle, non comparable directement à une année complète.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343025" y="4740994"/>
            <a:ext cx="6500813" cy="21715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Lecture.</a:t>
            </a: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 pic de 2021 décrit un volume observé ; il ne permet pas, à lui seul, d’attribuer une cause à l’évolution du dispositif.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960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239606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450139"/>
            <a:ext cx="103584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SÉLECTION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3970" y="4914565"/>
            <a:ext cx="13215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57313" y="385763"/>
            <a:ext cx="55721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07 · ANALYSE DES RELATIONS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57313" y="582216"/>
            <a:ext cx="5572125" cy="640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Le volume et le taux de Label évoluent en sens opposé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897416" y="385763"/>
            <a:ext cx="717947" cy="6715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08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1357313" y="1630003"/>
            <a:ext cx="297436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2" kern="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CORRÉLATION DESCRIPTIVE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357313" y="1862175"/>
            <a:ext cx="2974367" cy="8429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6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−0,35</a:t>
            </a:r>
            <a:endParaRPr lang="en-US" sz="6500" dirty="0"/>
          </a:p>
        </p:txBody>
      </p:sp>
      <p:sp>
        <p:nvSpPr>
          <p:cNvPr id="12" name="Text 9"/>
          <p:cNvSpPr/>
          <p:nvPr/>
        </p:nvSpPr>
        <p:spPr>
          <a:xfrm>
            <a:off x="1357313" y="2705137"/>
            <a:ext cx="2857500" cy="433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200" dirty="0">
                <a:solidFill>
                  <a:srgbClr val="102A4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 le nombre de candidatures et le taux de Label par session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57313" y="4163132"/>
            <a:ext cx="1606060" cy="85725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57313" y="4334582"/>
            <a:ext cx="714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−1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874187" y="4334582"/>
            <a:ext cx="5715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260242" y="4334582"/>
            <a:ext cx="714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+1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2963373" y="4163132"/>
            <a:ext cx="921990" cy="85725"/>
          </a:xfrm>
          <a:prstGeom prst="rect">
            <a:avLst/>
          </a:prstGeom>
          <a:solidFill>
            <a:srgbClr val="2D7D7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57313" y="4613188"/>
            <a:ext cx="2974367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signe négatif indique une association inverse modérée dans le corpus observé.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53199" y="1772878"/>
            <a:ext cx="167387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DÉCISIONS POSITIVES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053199" y="1976475"/>
            <a:ext cx="167387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 = 0,62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5053199" y="2333662"/>
            <a:ext cx="167387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Corrélation entre candidatures et nombre brut de Labels + Prélabels.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941381" y="1772878"/>
            <a:ext cx="167392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 MAXIMALE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6941381" y="1976475"/>
            <a:ext cx="167392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09/2021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41381" y="2333662"/>
            <a:ext cx="167392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Taux de Label observé : 100 %.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53199" y="3069468"/>
            <a:ext cx="167387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SESSION MINIMALE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053199" y="3273065"/>
            <a:ext cx="167387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07/2024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53199" y="3630253"/>
            <a:ext cx="167387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Taux de Label observé : 18,2 %.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941381" y="3069468"/>
            <a:ext cx="167392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941381" y="3273065"/>
            <a:ext cx="167392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Prudence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941381" y="3630253"/>
            <a:ext cx="167392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volume seul n’explique pas la sélection.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053199" y="4116028"/>
            <a:ext cx="3562108" cy="77710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À retenir pour la soutenance.</a:t>
            </a:r>
            <a:r>
              <a:rPr lang="en-US" sz="85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Ces coefficients décrivent une </a:t>
            </a:r>
            <a:r>
              <a:rPr lang="en-US" sz="85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association dans 85 sessions. Ils ne démontrent ni qu’un volume </a:t>
            </a:r>
            <a:r>
              <a:rPr lang="en-US" sz="85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élevé provoque une sélection plus stricte, ni qu’une session plus </a:t>
            </a:r>
            <a:r>
              <a:rPr lang="en-US" sz="85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grande améliore mécaniquement la qualité des dossiers.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1357313" y="5021721"/>
            <a:ext cx="725805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calculs de l’étude à partir du tableau corrigé des 85 sessions ; corrélations de Pearson descriptives.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4754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347543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1966540"/>
            <a:ext cx="103584" cy="16752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CONCENTRATION SECTORIELLE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5022503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42900"/>
            <a:ext cx="58578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08 · SECTEURS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39353"/>
            <a:ext cx="5857875" cy="657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Quatre secteurs structurent la moitié de la base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904559" y="342900"/>
            <a:ext cx="753666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09</a:t>
            </a:r>
            <a:endParaRPr lang="en-US" sz="4300" dirty="0"/>
          </a:p>
        </p:txBody>
      </p:sp>
      <p:sp>
        <p:nvSpPr>
          <p:cNvPr id="10" name="Shape 7"/>
          <p:cNvSpPr/>
          <p:nvPr/>
        </p:nvSpPr>
        <p:spPr>
          <a:xfrm>
            <a:off x="1343025" y="1389683"/>
            <a:ext cx="5214938" cy="2496741"/>
          </a:xfrm>
          <a:prstGeom prst="rect">
            <a:avLst/>
          </a:prstGeom>
          <a:solidFill>
            <a:srgbClr val="E3EBF2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343025" y="1389683"/>
            <a:ext cx="5214938" cy="5000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461120"/>
            <a:ext cx="5000625" cy="2143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28750" y="3661395"/>
            <a:ext cx="504348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 10 des secteurs observés dans la base sectorielle du dépôt.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6872288" y="1489695"/>
            <a:ext cx="17859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922</a:t>
            </a:r>
            <a:endParaRPr lang="en-US" sz="2050" dirty="0"/>
          </a:p>
        </p:txBody>
      </p:sp>
      <p:sp>
        <p:nvSpPr>
          <p:cNvPr id="15" name="Text 11"/>
          <p:cNvSpPr/>
          <p:nvPr/>
        </p:nvSpPr>
        <p:spPr>
          <a:xfrm>
            <a:off x="6872288" y="1818308"/>
            <a:ext cx="17859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STARTUPS SECTORISÉES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872288" y="1993329"/>
            <a:ext cx="1785938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Population utilisée pour l’analyse de concentration, répartie entre 18 secteurs.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6872288" y="2598986"/>
            <a:ext cx="17859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51,6 %</a:t>
            </a:r>
            <a:endParaRPr lang="en-US" sz="2050" dirty="0"/>
          </a:p>
        </p:txBody>
      </p:sp>
      <p:sp>
        <p:nvSpPr>
          <p:cNvPr id="18" name="Text 14"/>
          <p:cNvSpPr/>
          <p:nvPr/>
        </p:nvSpPr>
        <p:spPr>
          <a:xfrm>
            <a:off x="6872288" y="2927598"/>
            <a:ext cx="17859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TOP 4 DES SECTEURS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6872288" y="3102620"/>
            <a:ext cx="1785938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Software &amp; Services, Commerce &amp; Shopping, HealthTech et EdTech.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6872288" y="3708276"/>
            <a:ext cx="17859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1 044</a:t>
            </a:r>
            <a:endParaRPr lang="en-US" sz="2050" dirty="0"/>
          </a:p>
        </p:txBody>
      </p:sp>
      <p:sp>
        <p:nvSpPr>
          <p:cNvPr id="21" name="Text 17"/>
          <p:cNvSpPr/>
          <p:nvPr/>
        </p:nvSpPr>
        <p:spPr>
          <a:xfrm>
            <a:off x="6872288" y="4036888"/>
            <a:ext cx="17859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INDICE HHI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6872288" y="4211910"/>
            <a:ext cx="1785938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Concentration modérée selon une lecture descriptive des parts sectorielles.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343025" y="4731841"/>
            <a:ext cx="7315200" cy="369243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Interprétation.</a:t>
            </a:r>
            <a:r>
              <a:rPr lang="en-US" sz="6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La concentration relative des quatre premiers secteurs ne signifie pas que les autres domaines sont absents. Elle met en évidence un noyau de services </a:t>
            </a:r>
            <a:r>
              <a:rPr lang="en-US" sz="6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numériques et de solutions technologiques autour duquel se structure une part importante de la population observée.</a:t>
            </a:r>
            <a:endParaRPr lang="en-US" sz="650" dirty="0"/>
          </a:p>
        </p:txBody>
      </p:sp>
      <p:sp>
        <p:nvSpPr>
          <p:cNvPr id="24" name="Text 20"/>
          <p:cNvSpPr/>
          <p:nvPr/>
        </p:nvSpPr>
        <p:spPr>
          <a:xfrm>
            <a:off x="1343025" y="5158234"/>
            <a:ext cx="73152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dashboard_data.json et calculs de l’étude académique. Les secteurs sont traités comme agrégats descriptifs.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77706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777061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258095"/>
            <a:ext cx="103584" cy="1571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DYNAMIQUES TERRITORIALES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5502027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42900"/>
            <a:ext cx="58578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09 · GÉOGRAPHIE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39353"/>
            <a:ext cx="5857875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Le Grand Tunis reste dominant, mais le Centre-Est progresse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011716" y="342900"/>
            <a:ext cx="646509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</a:t>
            </a:r>
            <a:endParaRPr lang="en-US" sz="4300" dirty="0"/>
          </a:p>
        </p:txBody>
      </p:sp>
      <p:sp>
        <p:nvSpPr>
          <p:cNvPr id="10" name="Shape 7"/>
          <p:cNvSpPr/>
          <p:nvPr/>
        </p:nvSpPr>
        <p:spPr>
          <a:xfrm>
            <a:off x="1343025" y="1405086"/>
            <a:ext cx="5214938" cy="2475309"/>
          </a:xfrm>
          <a:prstGeom prst="rect">
            <a:avLst/>
          </a:prstGeom>
          <a:solidFill>
            <a:srgbClr val="E3EBF2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1343025" y="1405086"/>
            <a:ext cx="5214938" cy="5000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8" y="1490811"/>
            <a:ext cx="5000625" cy="2143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43038" y="3683943"/>
            <a:ext cx="501491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Parts régionales publiées dans les rapports annuels ; nomenclature harmonisée uniquement pour comparer les années.</a:t>
            </a:r>
            <a:endParaRPr lang="en-US" sz="550" dirty="0"/>
          </a:p>
        </p:txBody>
      </p:sp>
      <p:sp>
        <p:nvSpPr>
          <p:cNvPr id="14" name="Text 10"/>
          <p:cNvSpPr/>
          <p:nvPr/>
        </p:nvSpPr>
        <p:spPr>
          <a:xfrm>
            <a:off x="6858000" y="1526530"/>
            <a:ext cx="1800225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75,4 → 70,09 %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858000" y="2112318"/>
            <a:ext cx="18002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GRAND TUNIS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858000" y="2287339"/>
            <a:ext cx="1800225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concentration baisse légèrement, mais reste largement dominante sur les trois années.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6858000" y="2936974"/>
            <a:ext cx="1800225" cy="528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10,5 → 13,85 %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858000" y="3522762"/>
            <a:ext cx="18002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CENTRE-EST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6858000" y="3697784"/>
            <a:ext cx="1800225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progression la plus nette entre 2019 et 2021 dans les agrégats publiés.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6858000" y="4209455"/>
            <a:ext cx="1800225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0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62,3 %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6858000" y="4530923"/>
            <a:ext cx="18002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EMPLOIS 2021</a:t>
            </a:r>
            <a:endParaRPr lang="en-US" sz="700" dirty="0"/>
          </a:p>
        </p:txBody>
      </p:sp>
      <p:sp>
        <p:nvSpPr>
          <p:cNvPr id="22" name="Text 18"/>
          <p:cNvSpPr/>
          <p:nvPr/>
        </p:nvSpPr>
        <p:spPr>
          <a:xfrm>
            <a:off x="6858000" y="4705945"/>
            <a:ext cx="1800225" cy="41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 des emplois créés localisés dans le Grand Tunis, indicateur différent de la localisation des startups.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343025" y="5255568"/>
            <a:ext cx="2343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2019</a:t>
            </a:r>
            <a:endParaRPr lang="en-US" sz="550" dirty="0"/>
          </a:p>
        </p:txBody>
      </p:sp>
      <p:sp>
        <p:nvSpPr>
          <p:cNvPr id="24" name="Text 20"/>
          <p:cNvSpPr/>
          <p:nvPr/>
        </p:nvSpPr>
        <p:spPr>
          <a:xfrm>
            <a:off x="1343025" y="5402014"/>
            <a:ext cx="23431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75,4 % </a:t>
            </a:r>
            <a:r>
              <a:rPr lang="en-US" sz="6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 Tunis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829050" y="5255568"/>
            <a:ext cx="2343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2020</a:t>
            </a:r>
            <a:endParaRPr lang="en-US" sz="550" dirty="0"/>
          </a:p>
        </p:txBody>
      </p:sp>
      <p:sp>
        <p:nvSpPr>
          <p:cNvPr id="26" name="Text 22"/>
          <p:cNvSpPr/>
          <p:nvPr/>
        </p:nvSpPr>
        <p:spPr>
          <a:xfrm>
            <a:off x="3829050" y="5402014"/>
            <a:ext cx="23431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70,5 % </a:t>
            </a:r>
            <a:r>
              <a:rPr lang="en-US" sz="6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 Tunis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315075" y="5255568"/>
            <a:ext cx="23431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2021</a:t>
            </a:r>
            <a:endParaRPr lang="en-US" sz="550" dirty="0"/>
          </a:p>
        </p:txBody>
      </p:sp>
      <p:sp>
        <p:nvSpPr>
          <p:cNvPr id="28" name="Text 24"/>
          <p:cNvSpPr/>
          <p:nvPr/>
        </p:nvSpPr>
        <p:spPr>
          <a:xfrm>
            <a:off x="6315075" y="5402014"/>
            <a:ext cx="2343150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70,09 % </a:t>
            </a:r>
            <a:r>
              <a:rPr lang="en-US" sz="6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 Tunis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343025" y="5673477"/>
            <a:ext cx="73152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 : rapports annuels Startup Tunisia 2019–2020, 2020 et 2021. Les pourcentages sont des agrégats institutionnels, non une géolocalisation individuelle exhaustive.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43500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057400"/>
            <a:ext cx="103584" cy="1289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INTERNATIONALISATION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30398" y="4818459"/>
            <a:ext cx="139303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42900"/>
            <a:ext cx="60721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09 · OUVERTURE INTERNATIONALE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39353"/>
            <a:ext cx="6072188" cy="623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85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L’internationalisation progresse du côté des implantations étrangères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301038" y="342900"/>
            <a:ext cx="500063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11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343025" y="1341686"/>
            <a:ext cx="5929313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rapports annuels distinguent deux phénomènes : l’expansion des startups tunisiennes à l’étranger et l’arrivée de startups étrangères ayant une filiale en Tunisie.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43025" y="1747428"/>
            <a:ext cx="3629025" cy="1595735"/>
          </a:xfrm>
          <a:prstGeom prst="rect">
            <a:avLst/>
          </a:prstGeom>
          <a:solidFill>
            <a:srgbClr val="E3EBF2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1343025" y="1747428"/>
            <a:ext cx="3629025" cy="5715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514475" y="1847441"/>
            <a:ext cx="33147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STARTUPS TUNISIENNES À L’INTERNATIONAL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514475" y="2051038"/>
            <a:ext cx="331470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13</a:t>
            </a:r>
            <a:endParaRPr lang="en-US" sz="4500" dirty="0"/>
          </a:p>
        </p:txBody>
      </p:sp>
      <p:sp>
        <p:nvSpPr>
          <p:cNvPr id="15" name="Text 12"/>
          <p:cNvSpPr/>
          <p:nvPr/>
        </p:nvSpPr>
        <p:spPr>
          <a:xfrm>
            <a:off x="1514475" y="2665400"/>
            <a:ext cx="33147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 2020 et 2021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514475" y="2924361"/>
            <a:ext cx="3314700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6 en 2019.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 rapport 2020 indique 16 filiales cumulées ; en 2021, le 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nombre de startups reste stable par rapport à 2020.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172075" y="1747428"/>
            <a:ext cx="3629025" cy="1595735"/>
          </a:xfrm>
          <a:prstGeom prst="rect">
            <a:avLst/>
          </a:prstGeom>
          <a:solidFill>
            <a:srgbClr val="DBE9E8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172075" y="1747428"/>
            <a:ext cx="3629025" cy="57150"/>
          </a:xfrm>
          <a:prstGeom prst="rect">
            <a:avLst/>
          </a:prstGeom>
          <a:solidFill>
            <a:srgbClr val="2D7D7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343525" y="1847441"/>
            <a:ext cx="33147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STARTUPS ÉTRANGÈRES EN TUNISIE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343525" y="2051038"/>
            <a:ext cx="3314700" cy="5857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5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49</a:t>
            </a:r>
            <a:endParaRPr lang="en-US" sz="4500" dirty="0"/>
          </a:p>
        </p:txBody>
      </p:sp>
      <p:sp>
        <p:nvSpPr>
          <p:cNvPr id="21" name="Text 18"/>
          <p:cNvSpPr/>
          <p:nvPr/>
        </p:nvSpPr>
        <p:spPr>
          <a:xfrm>
            <a:off x="5343525" y="2665400"/>
            <a:ext cx="3314700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 2021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43525" y="2924361"/>
            <a:ext cx="3314700" cy="275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0400"/>
              </a:lnSpc>
              <a:buNone/>
            </a:pPr>
            <a:r>
              <a:rPr lang="en-US" sz="700" b="1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19 en 2020.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En 2021, les sièges étrangers comprennent 27 en France, 5 </a:t>
            </a:r>
            <a:r>
              <a:rPr lang="en-US" sz="75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aux États-Unis, 4 au Royaume-Uni et 5 aux Pays-Bas.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343025" y="3450320"/>
            <a:ext cx="212599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EMPLOIS CRÉÉS PAR RÉGION · 2021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936581" y="3471751"/>
            <a:ext cx="186451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Mesure distincte de la localisation des startups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1343025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62,3 %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343025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GRAND TUNIS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1343025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Centre de gravité des emplois créés.</a:t>
            </a:r>
            <a:endParaRPr lang="en-US" sz="550" dirty="0"/>
          </a:p>
        </p:txBody>
      </p:sp>
      <p:sp>
        <p:nvSpPr>
          <p:cNvPr id="28" name="Text 25"/>
          <p:cNvSpPr/>
          <p:nvPr/>
        </p:nvSpPr>
        <p:spPr>
          <a:xfrm>
            <a:off x="2860346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13,3 %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2860346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CENTRE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860346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Deuxième espace d’attractivité.</a:t>
            </a:r>
            <a:endParaRPr lang="en-US" sz="550" dirty="0"/>
          </a:p>
        </p:txBody>
      </p:sp>
      <p:sp>
        <p:nvSpPr>
          <p:cNvPr id="31" name="Text 28"/>
          <p:cNvSpPr/>
          <p:nvPr/>
        </p:nvSpPr>
        <p:spPr>
          <a:xfrm>
            <a:off x="4377668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12,2 %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4377668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NORD-EST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377668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Troisième contribution régionale.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5894989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5,6 %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5894989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SUD-EST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5894989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 minoritaire mais visible.</a:t>
            </a:r>
            <a:endParaRPr lang="en-US" sz="550" dirty="0"/>
          </a:p>
        </p:txBody>
      </p:sp>
      <p:sp>
        <p:nvSpPr>
          <p:cNvPr id="37" name="Text 34"/>
          <p:cNvSpPr/>
          <p:nvPr/>
        </p:nvSpPr>
        <p:spPr>
          <a:xfrm>
            <a:off x="7412310" y="3746785"/>
            <a:ext cx="138873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02A43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2,8 %</a:t>
            </a:r>
            <a:endParaRPr lang="en-US" sz="1650" dirty="0"/>
          </a:p>
        </p:txBody>
      </p:sp>
      <p:sp>
        <p:nvSpPr>
          <p:cNvPr id="38" name="Text 35"/>
          <p:cNvSpPr/>
          <p:nvPr/>
        </p:nvSpPr>
        <p:spPr>
          <a:xfrm>
            <a:off x="7412310" y="4057538"/>
            <a:ext cx="1388734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spc="1" kern="0" dirty="0">
                <a:solidFill>
                  <a:srgbClr val="334E6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NORD-OUEST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7412310" y="4197511"/>
            <a:ext cx="1388734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 publiée dans le rapport.</a:t>
            </a:r>
            <a:endParaRPr lang="en-US" sz="550" dirty="0"/>
          </a:p>
        </p:txBody>
      </p:sp>
      <p:sp>
        <p:nvSpPr>
          <p:cNvPr id="40" name="Text 37"/>
          <p:cNvSpPr/>
          <p:nvPr/>
        </p:nvSpPr>
        <p:spPr>
          <a:xfrm>
            <a:off x="1343025" y="4371082"/>
            <a:ext cx="7458075" cy="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50" b="1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Lecture prudente.</a:t>
            </a: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Une implantation mesure une présence organisationnelle ; elle ne mesure pas directement le chiffre d’affaires, les investissements ou la survie de la filiale. Source : rapports annuels </a:t>
            </a: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Startup Tunisia 2019–2021.</a:t>
            </a:r>
            <a:endParaRPr lang="en-US" sz="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073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00100" cy="5170736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228600" y="242888"/>
            <a:ext cx="3429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50" spc="-2" kern="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 rot="10800000">
            <a:off x="348258" y="2360340"/>
            <a:ext cx="103584" cy="7108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spc="2" kern="0" dirty="0">
                <a:solidFill>
                  <a:srgbClr val="A9BFD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360759" y="4845695"/>
            <a:ext cx="7858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D9770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343025" y="328613"/>
            <a:ext cx="528637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627D9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11 · CONCLUSION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43025" y="525066"/>
            <a:ext cx="5286375" cy="3371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20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Mesurer, documenter, puis décider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51006" y="328613"/>
            <a:ext cx="59293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00" dirty="0">
                <a:solidFill>
                  <a:srgbClr val="D9E2EC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12</a:t>
            </a:r>
            <a:endParaRPr lang="en-US" sz="4300" dirty="0"/>
          </a:p>
        </p:txBody>
      </p:sp>
      <p:sp>
        <p:nvSpPr>
          <p:cNvPr id="10" name="Text 7"/>
          <p:cNvSpPr/>
          <p:nvPr/>
        </p:nvSpPr>
        <p:spPr>
          <a:xfrm>
            <a:off x="1343025" y="1293019"/>
            <a:ext cx="346471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Ce que l’étude établit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43025" y="1743075"/>
            <a:ext cx="385763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7D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835944" y="1743075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RÉSULTAT CENTRAL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835944" y="1925241"/>
            <a:ext cx="2971800" cy="152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b="1" dirty="0">
                <a:solidFill>
                  <a:srgbClr val="48658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1 311 Labels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et </a:t>
            </a:r>
            <a:r>
              <a:rPr lang="en-US" sz="750" b="1" dirty="0">
                <a:solidFill>
                  <a:srgbClr val="48658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623 Prélabels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sur 85 sessions corrigées.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343025" y="2284549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7D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835944" y="2284549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TRAJECTOIRE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835944" y="2466715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2021 concentre le plus grand volume de candidatures avec 478 dossiers.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343025" y="2978162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D7D7B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835944" y="2978162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TERRITOIRE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835944" y="3160328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 Grand Tunis reste dominant, tandis que le Centre-Est progresse entre 2019 et 2021.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79219" y="1293019"/>
            <a:ext cx="346471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Libre Baskerville Bold" pitchFamily="34" charset="0"/>
                <a:ea typeface="Libre Baskerville Bold" pitchFamily="34" charset="-122"/>
                <a:cs typeface="Libre Baskerville Bold" pitchFamily="34" charset="-120"/>
              </a:rPr>
              <a:t>Ce qu’il faut encore documenter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79219" y="1743075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01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672138" y="1743075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ÉCART DE CANDIDATURES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672138" y="1925241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b="1" dirty="0">
                <a:solidFill>
                  <a:srgbClr val="48658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3 393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dans la somme corrigée contre </a:t>
            </a:r>
            <a:r>
              <a:rPr lang="en-US" sz="750" b="1" dirty="0">
                <a:solidFill>
                  <a:srgbClr val="48658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3 015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dans certains </a:t>
            </a: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éléments du site et du dataset.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179219" y="2436688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672138" y="2436688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PROVENANCE INDIVIDUELLE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672138" y="2618854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fondateurs et décisions doivent rester reliés à la page PDF et à un niveau de confiance.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179219" y="3130302"/>
            <a:ext cx="385763" cy="4864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5672138" y="3130302"/>
            <a:ext cx="297180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102A4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GÉOGRAPHIE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672138" y="3312468"/>
            <a:ext cx="2971800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00" dirty="0">
                <a:solidFill>
                  <a:srgbClr val="48658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Les rapports fournissent des agrégats régionaux, pas encore un géocodage individuel exhaustif.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343025" y="3809628"/>
            <a:ext cx="7300913" cy="943198"/>
          </a:xfrm>
          <a:prstGeom prst="rect">
            <a:avLst/>
          </a:prstGeom>
          <a:solidFill>
            <a:srgbClr val="102A43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1343025" y="3809628"/>
            <a:ext cx="7300913" cy="5715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1514475" y="3968130"/>
            <a:ext cx="5314950" cy="438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1250" dirty="0">
                <a:solidFill>
                  <a:srgbClr val="F0F4F8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 priorité suivante : publier un dictionnaire de données et résoudre chaque divergence par la source primaire.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1514475" y="4457030"/>
            <a:ext cx="5000625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C6D5E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Une base transparente ne masque pas ses écarts : elle les rend vérifiables, discutables et corrigibles.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829425" y="3976167"/>
            <a:ext cx="1643063" cy="612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Merci</a:t>
            </a:r>
            <a:r>
              <a:rPr lang="en-US" sz="11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
</a:t>
            </a:r>
            <a:r>
              <a:rPr lang="en-US" sz="11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Questions &amp; </a:t>
            </a:r>
            <a:r>
              <a:rPr lang="en-US" sz="1150" dirty="0">
                <a:solidFill>
                  <a:srgbClr val="D97706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343025" y="4825603"/>
            <a:ext cx="730091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dirty="0">
                <a:solidFill>
                  <a:srgbClr val="627D9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Sources : Startup Tunisia, rapports annuels 2019–2021, 85 sessions et corrections documentées dans le dépôt.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2026-08-21T13:46:54Z</dcterms:created>
  <dcterms:modified xsi:type="dcterms:W3CDTF">2026-08-21T13:46:54Z</dcterms:modified>
</cp:coreProperties>
</file>