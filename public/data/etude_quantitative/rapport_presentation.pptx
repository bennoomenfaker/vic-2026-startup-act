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435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1764506"/>
            <a:ext cx="103584" cy="18752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SOUTENANCE ACADÉMIQUE · 2026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28613" y="4818459"/>
            <a:ext cx="142875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00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457325" y="850106"/>
            <a:ext cx="7072313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ÉTUDE QUANTITATIVE · STARTUP TUNISIA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457325" y="1125141"/>
            <a:ext cx="5429250" cy="928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295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Étude quantitative du Startup Act tunisien</a:t>
            </a:r>
            <a:endParaRPr lang="en-US" sz="2950" dirty="0"/>
          </a:p>
        </p:txBody>
      </p:sp>
      <p:sp>
        <p:nvSpPr>
          <p:cNvPr id="9" name="Text 6"/>
          <p:cNvSpPr/>
          <p:nvPr/>
        </p:nvSpPr>
        <p:spPr>
          <a:xfrm>
            <a:off x="1457325" y="2224608"/>
            <a:ext cx="4643438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Sessions de labellisation, corrections de données et dynamiques territoriales — 2019–2026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457325" y="4311253"/>
            <a:ext cx="2893219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5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Faker BEN NOOMEN</a:t>
            </a:r>
            <a:r>
              <a:rPr lang="en-US" sz="8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8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Mastère professionnel en Veille et Intelligence Compétitive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275659" y="4311253"/>
            <a:ext cx="2110978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5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ESEN Manouba × ISCAE Manouba</a:t>
            </a:r>
            <a:r>
              <a:rPr lang="en-US" sz="8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8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Présentation de soutenance · 21 août 2026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840266" y="471488"/>
            <a:ext cx="746522" cy="6429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95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4950" dirty="0"/>
          </a:p>
        </p:txBody>
      </p:sp>
      <p:sp>
        <p:nvSpPr>
          <p:cNvPr id="13" name="Text 10"/>
          <p:cNvSpPr/>
          <p:nvPr/>
        </p:nvSpPr>
        <p:spPr>
          <a:xfrm>
            <a:off x="6872288" y="4396978"/>
            <a:ext cx="1685925" cy="246459"/>
          </a:xfrm>
          <a:prstGeom prst="rect">
            <a:avLst/>
          </a:prstGeom>
          <a:noFill/>
          <a:ln/>
        </p:spPr>
        <p:txBody>
          <a:bodyPr wrap="square" lIns="110617" tIns="76581" rIns="110617" bIns="76581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DONNÉES · MÉTHODE · PREUVE</a:t>
            </a:r>
            <a:endParaRPr lang="en-US" sz="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6794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67945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2069623"/>
            <a:ext cx="103584" cy="1289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CADRE INSTITUTIONNEL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44686" y="4842904"/>
            <a:ext cx="110728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85888" y="414338"/>
            <a:ext cx="5000625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01 · CADRE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85888" y="617934"/>
            <a:ext cx="5000625" cy="657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95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Le Startup Act : un dispositif à mesurer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7847409" y="414338"/>
            <a:ext cx="739378" cy="6893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4300" dirty="0"/>
          </a:p>
        </p:txBody>
      </p:sp>
      <p:sp>
        <p:nvSpPr>
          <p:cNvPr id="10" name="Shape 7"/>
          <p:cNvSpPr/>
          <p:nvPr/>
        </p:nvSpPr>
        <p:spPr>
          <a:xfrm>
            <a:off x="1385888" y="1782589"/>
            <a:ext cx="7200900" cy="828675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1" name="Shape 8"/>
          <p:cNvSpPr/>
          <p:nvPr/>
        </p:nvSpPr>
        <p:spPr>
          <a:xfrm>
            <a:off x="1385888" y="1782589"/>
            <a:ext cx="7200900" cy="5000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9"/>
          <p:cNvSpPr/>
          <p:nvPr/>
        </p:nvSpPr>
        <p:spPr>
          <a:xfrm>
            <a:off x="1564481" y="2037978"/>
            <a:ext cx="528638" cy="3178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093119" y="2116559"/>
            <a:ext cx="1857375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MESURES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950494" y="2026927"/>
            <a:ext cx="4071938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cadre public tunisien structuré autour d’un Label de mérite et d’avantages pour startups, entrepreneurs et investisseurs.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385888" y="2725564"/>
            <a:ext cx="7200900" cy="828675"/>
          </a:xfrm>
          <a:prstGeom prst="rect">
            <a:avLst/>
          </a:prstGeom>
          <a:solidFill>
            <a:srgbClr val="DBE9E8"/>
          </a:solidFill>
          <a:ln/>
        </p:spPr>
      </p:sp>
      <p:sp>
        <p:nvSpPr>
          <p:cNvPr id="16" name="Shape 13"/>
          <p:cNvSpPr/>
          <p:nvPr/>
        </p:nvSpPr>
        <p:spPr>
          <a:xfrm>
            <a:off x="1385888" y="2725564"/>
            <a:ext cx="7200900" cy="50006"/>
          </a:xfrm>
          <a:prstGeom prst="rect">
            <a:avLst/>
          </a:prstGeom>
          <a:solidFill>
            <a:srgbClr val="2D7D7B"/>
          </a:solidFill>
          <a:ln/>
        </p:spPr>
      </p:sp>
      <p:sp>
        <p:nvSpPr>
          <p:cNvPr id="17" name="Text 14"/>
          <p:cNvSpPr/>
          <p:nvPr/>
        </p:nvSpPr>
        <p:spPr>
          <a:xfrm>
            <a:off x="1564481" y="2980953"/>
            <a:ext cx="528638" cy="3178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2093119" y="3059534"/>
            <a:ext cx="1857375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STATUTS CLÉS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950494" y="2969902"/>
            <a:ext cx="4071938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Pré-Label prépare l’accès au dispositif ; le Label formalise la reconnaissance de la startup.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385888" y="3668539"/>
            <a:ext cx="7200900" cy="831466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85888" y="3668539"/>
            <a:ext cx="7200900" cy="50006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22" name="Text 19"/>
          <p:cNvSpPr/>
          <p:nvPr/>
        </p:nvSpPr>
        <p:spPr>
          <a:xfrm>
            <a:off x="1564481" y="3923928"/>
            <a:ext cx="528638" cy="3178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88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2093119" y="4002509"/>
            <a:ext cx="1857375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SESSIONS OBSERVÉES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950494" y="3827878"/>
            <a:ext cx="4071938" cy="509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corpus final couvre les sessions S0–S87 et permet de suivre les volumes, les décisions, les corrections et les dynamiques territoriales sur 2019–2026.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385888" y="4697239"/>
            <a:ext cx="7200900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: Startup Tunisia, About Startup Act, page officielle des résultats et 88 comptes-rendus PDF.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435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142875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2284214"/>
            <a:ext cx="103584" cy="892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PROBLÉMATIQUE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2184" y="4975622"/>
            <a:ext cx="135731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257300" y="242888"/>
            <a:ext cx="5429250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02 · PROBLÉMATIQUE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257300" y="446484"/>
            <a:ext cx="5429250" cy="674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20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La question n’est pas seulement combien, mais comment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947422" y="242888"/>
            <a:ext cx="739378" cy="877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4300" dirty="0"/>
          </a:p>
        </p:txBody>
      </p:sp>
      <p:sp>
        <p:nvSpPr>
          <p:cNvPr id="10" name="Text 7"/>
          <p:cNvSpPr/>
          <p:nvPr/>
        </p:nvSpPr>
        <p:spPr>
          <a:xfrm>
            <a:off x="1257300" y="1327956"/>
            <a:ext cx="2901758" cy="1518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Que révèlent </a:t>
            </a:r>
            <a:r>
              <a:rPr lang="en-US" sz="1700" b="1" dirty="0">
                <a:solidFill>
                  <a:srgbClr val="D97706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88 </a:t>
            </a:r>
            <a:r>
              <a:rPr lang="en-US" sz="1700" b="1" dirty="0">
                <a:solidFill>
                  <a:srgbClr val="D97706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sessions</a:t>
            </a:r>
            <a:r>
              <a:rPr lang="en-US" sz="17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 de </a:t>
            </a:r>
            <a:r>
              <a:rPr lang="en-US" sz="17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labellisation sur la </a:t>
            </a:r>
            <a:r>
              <a:rPr lang="en-US" sz="17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sélection et la </a:t>
            </a:r>
            <a:r>
              <a:rPr lang="en-US" sz="17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diffusion territoriale ?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257300" y="2988878"/>
            <a:ext cx="2901758" cy="797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L’étude cherche à produire un état des lieux quantitatif, traçable et reproductible, sans transformer des agrégats administratifs en causalités qui ne sont pas observées.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737702" y="1456544"/>
            <a:ext cx="23217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01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737702" y="1767297"/>
            <a:ext cx="1888796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VOLUMES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737702" y="1974466"/>
            <a:ext cx="188879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Comment évoluent candidatures et décisions entre 2019 et 2026 ?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797948" y="1456544"/>
            <a:ext cx="271463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02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797948" y="1767297"/>
            <a:ext cx="1888796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SÉLECTION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797948" y="1974466"/>
            <a:ext cx="188879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taux de Label varie-t-il avec la taille des sessions ?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737702" y="2531678"/>
            <a:ext cx="267891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03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737702" y="2842431"/>
            <a:ext cx="1888796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TERRITOIRE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737702" y="3049600"/>
            <a:ext cx="188879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dispositif se diffuse-t-il au-delà du Grand Tunis ?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797948" y="2531678"/>
            <a:ext cx="275034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04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797948" y="2842431"/>
            <a:ext cx="1888796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FIABILITÉ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797948" y="3049600"/>
            <a:ext cx="188879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données publiées sont-elles cohérentes et auditables ?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257300" y="4628369"/>
            <a:ext cx="7429500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Question de recherche construite à partir du rapport académique et du guide d’étude quantitative.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837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83739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2291804"/>
            <a:ext cx="103584" cy="8608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MÉTHODOLOGIE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2184" y="4858643"/>
            <a:ext cx="135731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57313" y="385763"/>
            <a:ext cx="5429250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03 · MÉTHODE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57313" y="582216"/>
            <a:ext cx="5429250" cy="651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9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Une méthode en quatre couches pour sécuriser les chiffres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936706" y="385763"/>
            <a:ext cx="707231" cy="5429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2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04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1357313" y="1512243"/>
            <a:ext cx="5643563" cy="528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design quantitatif, longitudinal et documentaire, complété par un audit de provenance. Chaque couche répond à une question différente et évite de confondre agrégat institutionnel et ligne individuelle.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357313" y="2240514"/>
            <a:ext cx="1746647" cy="1914525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2" name="Shape 9"/>
          <p:cNvSpPr/>
          <p:nvPr/>
        </p:nvSpPr>
        <p:spPr>
          <a:xfrm>
            <a:off x="1357313" y="2240514"/>
            <a:ext cx="1746647" cy="57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0"/>
          <p:cNvSpPr/>
          <p:nvPr/>
        </p:nvSpPr>
        <p:spPr>
          <a:xfrm>
            <a:off x="1457325" y="2369102"/>
            <a:ext cx="1546622" cy="282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457325" y="2779868"/>
            <a:ext cx="1546622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SESSIONS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457325" y="3026327"/>
            <a:ext cx="1546622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88 sessions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dates 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normalisées et compteurs 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officiels. L’unité principale 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mesure le rythme du dispositif.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3203972" y="2240514"/>
            <a:ext cx="1746647" cy="1914525"/>
          </a:xfrm>
          <a:prstGeom prst="rect">
            <a:avLst/>
          </a:prstGeom>
          <a:solidFill>
            <a:srgbClr val="DBE9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203972" y="2240514"/>
            <a:ext cx="1746647" cy="57150"/>
          </a:xfrm>
          <a:prstGeom prst="rect">
            <a:avLst/>
          </a:prstGeom>
          <a:solidFill>
            <a:srgbClr val="2D7D7B"/>
          </a:solidFill>
          <a:ln/>
        </p:spPr>
      </p:sp>
      <p:sp>
        <p:nvSpPr>
          <p:cNvPr id="18" name="Text 15"/>
          <p:cNvSpPr/>
          <p:nvPr/>
        </p:nvSpPr>
        <p:spPr>
          <a:xfrm>
            <a:off x="3303984" y="2369102"/>
            <a:ext cx="1546622" cy="282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2D7D7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3303984" y="2779868"/>
            <a:ext cx="1546622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DÉCISIONS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303984" y="3026327"/>
            <a:ext cx="1546622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3 555 lignes détaillées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: 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sociétés, fondateurs, secteurs 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 résultats. L’unité détaillée </a:t>
            </a: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 la ligne PDF.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5050631" y="2240514"/>
            <a:ext cx="1746647" cy="1914525"/>
          </a:xfrm>
          <a:prstGeom prst="rect">
            <a:avLst/>
          </a:prstGeom>
          <a:solidFill>
            <a:srgbClr val="E0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5050631" y="2240514"/>
            <a:ext cx="1746647" cy="57150"/>
          </a:xfrm>
          <a:prstGeom prst="rect">
            <a:avLst/>
          </a:prstGeom>
          <a:solidFill>
            <a:srgbClr val="829AB1"/>
          </a:solidFill>
          <a:ln/>
        </p:spPr>
      </p:sp>
      <p:sp>
        <p:nvSpPr>
          <p:cNvPr id="23" name="Text 20"/>
          <p:cNvSpPr/>
          <p:nvPr/>
        </p:nvSpPr>
        <p:spPr>
          <a:xfrm>
            <a:off x="5150644" y="2369102"/>
            <a:ext cx="1546622" cy="282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27D9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5150644" y="2779868"/>
            <a:ext cx="1546622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RAPPORTS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150644" y="3026327"/>
            <a:ext cx="1546622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Rapports annuels 2019, 2020 et 2021 pour la géographie, l’internationalisation et les emplois.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897291" y="2240514"/>
            <a:ext cx="1746647" cy="1914525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27" name="Shape 24"/>
          <p:cNvSpPr/>
          <p:nvPr/>
        </p:nvSpPr>
        <p:spPr>
          <a:xfrm>
            <a:off x="6897291" y="2240514"/>
            <a:ext cx="1746647" cy="5715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28" name="Text 25"/>
          <p:cNvSpPr/>
          <p:nvPr/>
        </p:nvSpPr>
        <p:spPr>
          <a:xfrm>
            <a:off x="6997303" y="2369102"/>
            <a:ext cx="1546622" cy="282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997303" y="2779868"/>
            <a:ext cx="1546622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AUDIT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997303" y="3026327"/>
            <a:ext cx="1546622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Comparaison des tables, corrections, PDF et agrégats, avec conservation des écarts et limites.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357313" y="4397927"/>
            <a:ext cx="23097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POPULATION PRINCIPALE</a:t>
            </a:r>
            <a:endParaRPr lang="en-US" sz="550" dirty="0"/>
          </a:p>
        </p:txBody>
      </p:sp>
      <p:sp>
        <p:nvSpPr>
          <p:cNvPr id="32" name="Text 29"/>
          <p:cNvSpPr/>
          <p:nvPr/>
        </p:nvSpPr>
        <p:spPr>
          <a:xfrm>
            <a:off x="1357313" y="4537230"/>
            <a:ext cx="932259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88 sessions S0–S87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3845682" y="4397927"/>
            <a:ext cx="2309831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INDICATEUR CENTRAL</a:t>
            </a:r>
            <a:endParaRPr lang="en-US" sz="550" dirty="0"/>
          </a:p>
        </p:txBody>
      </p:sp>
      <p:sp>
        <p:nvSpPr>
          <p:cNvPr id="34" name="Text 31"/>
          <p:cNvSpPr/>
          <p:nvPr/>
        </p:nvSpPr>
        <p:spPr>
          <a:xfrm>
            <a:off x="3845682" y="4537230"/>
            <a:ext cx="1832372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1 356 Labels / 3 079 candidatures × 100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6334106" y="4397927"/>
            <a:ext cx="2309831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RÈGLE DE PRUDENCE</a:t>
            </a:r>
            <a:endParaRPr lang="en-US" sz="550" dirty="0"/>
          </a:p>
        </p:txBody>
      </p:sp>
      <p:sp>
        <p:nvSpPr>
          <p:cNvPr id="36" name="Text 33"/>
          <p:cNvSpPr/>
          <p:nvPr/>
        </p:nvSpPr>
        <p:spPr>
          <a:xfrm>
            <a:off x="6334106" y="4537230"/>
            <a:ext cx="2039541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lignes détaillées ne remplacent jamais le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6334106" y="4669389"/>
            <a:ext cx="796528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compteur officiel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1357313" y="4937280"/>
            <a:ext cx="728662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: dépôt de recherche, comptes rendus PDF, corrections documentées et rapports annuels Startup Tunisia.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3710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337107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114300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0" y="557213"/>
            <a:ext cx="8001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 DES DONNÉES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0398" y="864394"/>
            <a:ext cx="139303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04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85850" y="142875"/>
            <a:ext cx="5429250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04 · CONTRÔLE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085850" y="346472"/>
            <a:ext cx="5429250" cy="657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95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Les corrections changent le diagnostic statistique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8143875" y="142875"/>
            <a:ext cx="714375" cy="6893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05</a:t>
            </a:r>
            <a:endParaRPr lang="en-US" sz="4300" dirty="0"/>
          </a:p>
        </p:txBody>
      </p:sp>
      <p:sp>
        <p:nvSpPr>
          <p:cNvPr id="10" name="Text 7"/>
          <p:cNvSpPr/>
          <p:nvPr/>
        </p:nvSpPr>
        <p:spPr>
          <a:xfrm>
            <a:off x="1085850" y="1392864"/>
            <a:ext cx="1428750" cy="8743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72000"/>
              </a:lnSpc>
              <a:buNone/>
            </a:pPr>
            <a:r>
              <a:rPr lang="en-US" sz="75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21</a:t>
            </a:r>
            <a:endParaRPr lang="en-US" sz="7500" dirty="0"/>
          </a:p>
        </p:txBody>
      </p:sp>
      <p:sp>
        <p:nvSpPr>
          <p:cNvPr id="11" name="Text 8"/>
          <p:cNvSpPr/>
          <p:nvPr/>
        </p:nvSpPr>
        <p:spPr>
          <a:xfrm>
            <a:off x="2657475" y="1139651"/>
            <a:ext cx="1510903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sessions corrigées dans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657475" y="1322877"/>
            <a:ext cx="1146572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socle historique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657475" y="1556110"/>
            <a:ext cx="1535906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Trois PDF ajoutent S85–S87 au corpus final.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85850" y="2627672"/>
            <a:ext cx="3650456" cy="1746647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5" name="Text 12"/>
          <p:cNvSpPr/>
          <p:nvPr/>
        </p:nvSpPr>
        <p:spPr>
          <a:xfrm>
            <a:off x="1171575" y="2699110"/>
            <a:ext cx="3479006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ÉTUDE · LIGNES PDF + AJOURNÉS HORS PDF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171575" y="3070585"/>
            <a:ext cx="1178719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Lignes PDF détaillées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843338" y="2902707"/>
            <a:ext cx="807244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3 555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1171575" y="3563503"/>
            <a:ext cx="1028700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Ajournés hors PDF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289822" y="3395625"/>
            <a:ext cx="36075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+3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171575" y="4056422"/>
            <a:ext cx="1310878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Candidatures corrigées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832622" y="3888544"/>
            <a:ext cx="81795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3 558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4736306" y="2627672"/>
            <a:ext cx="471488" cy="17466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5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0"/>
          <p:cNvSpPr/>
          <p:nvPr/>
        </p:nvSpPr>
        <p:spPr>
          <a:xfrm>
            <a:off x="5207794" y="2577666"/>
            <a:ext cx="3650456" cy="1796653"/>
          </a:xfrm>
          <a:prstGeom prst="rect">
            <a:avLst/>
          </a:prstGeom>
          <a:solidFill>
            <a:srgbClr val="DBE9E8"/>
          </a:solidFill>
          <a:ln/>
        </p:spPr>
      </p:sp>
      <p:sp>
        <p:nvSpPr>
          <p:cNvPr id="24" name="Shape 21"/>
          <p:cNvSpPr/>
          <p:nvPr/>
        </p:nvSpPr>
        <p:spPr>
          <a:xfrm>
            <a:off x="5207794" y="2577666"/>
            <a:ext cx="3650456" cy="50006"/>
          </a:xfrm>
          <a:prstGeom prst="rect">
            <a:avLst/>
          </a:prstGeom>
          <a:solidFill>
            <a:srgbClr val="2D7D7B"/>
          </a:solidFill>
          <a:ln/>
        </p:spPr>
      </p:sp>
      <p:sp>
        <p:nvSpPr>
          <p:cNvPr id="25" name="Text 22"/>
          <p:cNvSpPr/>
          <p:nvPr/>
        </p:nvSpPr>
        <p:spPr>
          <a:xfrm>
            <a:off x="5293519" y="2649103"/>
            <a:ext cx="3479006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RÉFÉRENCE INSTITUTIONNELLE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293519" y="3020578"/>
            <a:ext cx="1321594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Candidatures officielles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18847" y="2852700"/>
            <a:ext cx="853678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3 079</a:t>
            </a:r>
            <a:endParaRPr lang="en-US" sz="2100" dirty="0"/>
          </a:p>
        </p:txBody>
      </p:sp>
      <p:sp>
        <p:nvSpPr>
          <p:cNvPr id="28" name="Text 25"/>
          <p:cNvSpPr/>
          <p:nvPr/>
        </p:nvSpPr>
        <p:spPr>
          <a:xfrm>
            <a:off x="5293519" y="3513497"/>
            <a:ext cx="985838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Labels / Prélabels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165181" y="3345619"/>
            <a:ext cx="160734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1 356 / 641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5293519" y="4006416"/>
            <a:ext cx="1064419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Reportés explicites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593931" y="3838538"/>
            <a:ext cx="178594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5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085850" y="4452900"/>
            <a:ext cx="3850481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Lecture de l’écart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3 558 candidatures corrigées = 3 555 lignes PDF + 3 ajournés hors PDF : 2 en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03/2019 et 1 en 06/2019. Les noms de ces trois dossiers ne sont pas publiés dans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éléments disponibles.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5007769" y="4452900"/>
            <a:ext cx="3850481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Cas S62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PDF retient 46 lignes, alors que le site publie 39 candidatures. Les 14 Labels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détaillés comprennent 9 Labels initiaux et 5 conversions ; les 4 dossiers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administratifs restent « Décision non précisée ».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1085850" y="5141379"/>
            <a:ext cx="7772400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: corrections documentées, comptes rendus PDF S0–S87 et exports 88 sessions audités. Les trois périmètres sont publiés séparément.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435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53616" y="1960178"/>
            <a:ext cx="92869" cy="14945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RÉSULTATS QUANTITATIFS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8044" y="4829119"/>
            <a:ext cx="123955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85888" y="392906"/>
            <a:ext cx="5127594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05 · RÉSULTATS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85888" y="578644"/>
            <a:ext cx="5127594" cy="3202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9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88 sessions, trois périmètres de candidatures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043863" y="392906"/>
            <a:ext cx="557213" cy="6429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06</a:t>
            </a:r>
            <a:endParaRPr lang="en-US" sz="4300" dirty="0"/>
          </a:p>
        </p:txBody>
      </p:sp>
      <p:sp>
        <p:nvSpPr>
          <p:cNvPr id="10" name="Text 7"/>
          <p:cNvSpPr/>
          <p:nvPr/>
        </p:nvSpPr>
        <p:spPr>
          <a:xfrm>
            <a:off x="1385888" y="1628775"/>
            <a:ext cx="37518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CANDIDATURES CORRIGÉES DE L’ÉTUDE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385888" y="1785938"/>
            <a:ext cx="3751864" cy="657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5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3 558</a:t>
            </a:r>
            <a:endParaRPr lang="en-US" sz="5050" dirty="0"/>
          </a:p>
        </p:txBody>
      </p:sp>
      <p:sp>
        <p:nvSpPr>
          <p:cNvPr id="12" name="Text 9"/>
          <p:cNvSpPr/>
          <p:nvPr/>
        </p:nvSpPr>
        <p:spPr>
          <a:xfrm>
            <a:off x="1385888" y="2500313"/>
            <a:ext cx="3751864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3 555 lignes PDF + 3 ajournés hors PDF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509227" y="1510568"/>
            <a:ext cx="3091793" cy="694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3 079</a:t>
            </a:r>
            <a:r>
              <a:rPr lang="en-US" sz="12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candidatures</a:t>
            </a:r>
            <a:r>
              <a:rPr lang="en-US" sz="12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
</a:t>
            </a:r>
            <a:r>
              <a:rPr lang="en-US" sz="12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selon le compteur officiel</a:t>
            </a:r>
            <a:r>
              <a:rPr lang="en-US" sz="12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
</a:t>
            </a:r>
            <a:r>
              <a:rPr lang="en-US" sz="12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Startup Tunisia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509227" y="2276345"/>
            <a:ext cx="2786063" cy="4349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3 ajournés hors PDF sont signalés par des commentaires officiels : 2 en 03/2019 et 1 en 06/2019. Les noms ne sont pas publiés dans les éléments disponibles.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385888" y="3328988"/>
            <a:ext cx="1659136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1 997</a:t>
            </a:r>
            <a:endParaRPr lang="en-US" sz="2050" dirty="0"/>
          </a:p>
        </p:txBody>
      </p:sp>
      <p:sp>
        <p:nvSpPr>
          <p:cNvPr id="16" name="Text 13"/>
          <p:cNvSpPr/>
          <p:nvPr/>
        </p:nvSpPr>
        <p:spPr>
          <a:xfrm>
            <a:off x="1385888" y="3689747"/>
            <a:ext cx="1659136" cy="1350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LABELS + PRÉLABELS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1385888" y="3867615"/>
            <a:ext cx="1659136" cy="125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Décisions positives officielles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3237905" y="3328988"/>
            <a:ext cx="1659136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44,0 %</a:t>
            </a:r>
            <a:endParaRPr lang="en-US" sz="2050" dirty="0"/>
          </a:p>
        </p:txBody>
      </p:sp>
      <p:sp>
        <p:nvSpPr>
          <p:cNvPr id="19" name="Text 16"/>
          <p:cNvSpPr/>
          <p:nvPr/>
        </p:nvSpPr>
        <p:spPr>
          <a:xfrm>
            <a:off x="3237905" y="3689747"/>
            <a:ext cx="1659136" cy="1350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TAUX DE LABEL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3237905" y="3867615"/>
            <a:ext cx="1659136" cy="125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1 356 / 3 079 officiel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5089922" y="3328988"/>
            <a:ext cx="1659136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35,0</a:t>
            </a:r>
            <a:endParaRPr lang="en-US" sz="2050" dirty="0"/>
          </a:p>
        </p:txBody>
      </p:sp>
      <p:sp>
        <p:nvSpPr>
          <p:cNvPr id="22" name="Text 19"/>
          <p:cNvSpPr/>
          <p:nvPr/>
        </p:nvSpPr>
        <p:spPr>
          <a:xfrm>
            <a:off x="5089922" y="3689747"/>
            <a:ext cx="1659136" cy="1350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MOYENNE / SESSION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5089922" y="3867615"/>
            <a:ext cx="1659136" cy="125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Candidatures officielles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6941939" y="3328988"/>
            <a:ext cx="1659136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3 555</a:t>
            </a:r>
            <a:endParaRPr lang="en-US" sz="2050" dirty="0"/>
          </a:p>
        </p:txBody>
      </p:sp>
      <p:sp>
        <p:nvSpPr>
          <p:cNvPr id="25" name="Text 22"/>
          <p:cNvSpPr/>
          <p:nvPr/>
        </p:nvSpPr>
        <p:spPr>
          <a:xfrm>
            <a:off x="6941939" y="3689747"/>
            <a:ext cx="1659136" cy="1350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LIGNES DÉTAILLÉES PDF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941939" y="3867615"/>
            <a:ext cx="1659136" cy="250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Registre des décisions, conversions et retraits</a:t>
            </a:r>
            <a:endParaRPr lang="en-US" sz="650" dirty="0"/>
          </a:p>
        </p:txBody>
      </p:sp>
      <p:sp>
        <p:nvSpPr>
          <p:cNvPr id="27" name="Text 24"/>
          <p:cNvSpPr/>
          <p:nvPr/>
        </p:nvSpPr>
        <p:spPr>
          <a:xfrm>
            <a:off x="1385888" y="4289766"/>
            <a:ext cx="7143750" cy="248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Règle de lecture.</a:t>
            </a: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Le corpus détaillé garde ses 3 555 lignes PDF ; le compteur corrigé ajoute séparément 3 ajournés hors PDF pour atteindre 3 558 candidatures. Le site officiel conserve 3 </a:t>
            </a: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079 candidatures. Pour S62, le site publie 39 candidatures et le PDF 46 lignes : 14 Labels détaillés comprennent 9 Labels initiaux et 5 conversions.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435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53616" y="828675"/>
            <a:ext cx="92869" cy="15646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TRAJECTOIRE TEMPORELLE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8044" y="2636211"/>
            <a:ext cx="123955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06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43025" y="342900"/>
            <a:ext cx="5857875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06 · RÉSULTATS TEMPORELS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43025" y="528638"/>
            <a:ext cx="5857875" cy="657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95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2021 concentre le plus grand volume de candidatures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8101013" y="342900"/>
            <a:ext cx="557213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07</a:t>
            </a:r>
            <a:endParaRPr lang="en-US" sz="4300" dirty="0"/>
          </a:p>
        </p:txBody>
      </p:sp>
      <p:sp>
        <p:nvSpPr>
          <p:cNvPr id="10" name="Shape 7"/>
          <p:cNvSpPr/>
          <p:nvPr/>
        </p:nvSpPr>
        <p:spPr>
          <a:xfrm>
            <a:off x="1343025" y="1393254"/>
            <a:ext cx="5429250" cy="2986088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1" name="Shape 8"/>
          <p:cNvSpPr/>
          <p:nvPr/>
        </p:nvSpPr>
        <p:spPr>
          <a:xfrm>
            <a:off x="1343025" y="1393254"/>
            <a:ext cx="5429250" cy="5000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325" y="1493267"/>
            <a:ext cx="5200650" cy="2600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57325" y="4150742"/>
            <a:ext cx="5200650" cy="92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: série officielle et exports audités des 88 sessions S0–S87. Les six sessions de 2026 couvrent janvier à juin.</a:t>
            </a:r>
            <a:endParaRPr lang="en-US" sz="550" dirty="0"/>
          </a:p>
        </p:txBody>
      </p:sp>
      <p:sp>
        <p:nvSpPr>
          <p:cNvPr id="14" name="Text 10"/>
          <p:cNvSpPr/>
          <p:nvPr/>
        </p:nvSpPr>
        <p:spPr>
          <a:xfrm>
            <a:off x="7072313" y="1507554"/>
            <a:ext cx="1585913" cy="296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478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7072313" y="1839739"/>
            <a:ext cx="15859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CANDIDATURES EN 2021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7072313" y="1996901"/>
            <a:ext cx="1585913" cy="283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3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maximum annuel observé dans le corpus.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7072313" y="2516609"/>
            <a:ext cx="1585913" cy="296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243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7072313" y="2848794"/>
            <a:ext cx="15859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LABELS EN 2021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7072313" y="3005956"/>
            <a:ext cx="1585913" cy="283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3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volume annuel de Labels le plus élevé.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7072313" y="3525664"/>
            <a:ext cx="1585913" cy="296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7072313" y="3857848"/>
            <a:ext cx="15859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SESSIONS EN 2026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7072313" y="4015011"/>
            <a:ext cx="1585913" cy="425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3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Janvier–juin, une année partielle non comparable directement à une année complète.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343025" y="4612407"/>
            <a:ext cx="6500813" cy="217159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Lecture.</a:t>
            </a: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Le pic de 2021 décrit un volume observé ; il ne permet pas, à lui seul, d’attribuer une cause à l’évolution du dispositif.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5544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55443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2408058"/>
            <a:ext cx="103584" cy="6000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SÉLECTION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3970" y="4830403"/>
            <a:ext cx="132159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57313" y="385763"/>
            <a:ext cx="5572125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07 · ANALYSE DES RELATIONS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57313" y="582216"/>
            <a:ext cx="5572125" cy="640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9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Le volume et le taux de Label évoluent en sens opposé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897416" y="385763"/>
            <a:ext cx="717947" cy="671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08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1357313" y="1630003"/>
            <a:ext cx="2974367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spc="2" kern="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CORRÉLATION DESCRIPTIVE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357313" y="1862175"/>
            <a:ext cx="2974367" cy="8429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65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−0,35</a:t>
            </a:r>
            <a:endParaRPr lang="en-US" sz="6500" dirty="0"/>
          </a:p>
        </p:txBody>
      </p:sp>
      <p:sp>
        <p:nvSpPr>
          <p:cNvPr id="12" name="Text 9"/>
          <p:cNvSpPr/>
          <p:nvPr/>
        </p:nvSpPr>
        <p:spPr>
          <a:xfrm>
            <a:off x="1357313" y="2705137"/>
            <a:ext cx="2857500" cy="433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1200" dirty="0">
                <a:solidFill>
                  <a:srgbClr val="102A4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le nombre de candidatures et le taux de Label par session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57313" y="4078970"/>
            <a:ext cx="1606060" cy="857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1"/>
          <p:cNvSpPr/>
          <p:nvPr/>
        </p:nvSpPr>
        <p:spPr>
          <a:xfrm>
            <a:off x="1357313" y="4250420"/>
            <a:ext cx="71438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−1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874187" y="4250420"/>
            <a:ext cx="57150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4260242" y="4250420"/>
            <a:ext cx="71438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+1</a:t>
            </a:r>
            <a:endParaRPr lang="en-US" sz="600" dirty="0"/>
          </a:p>
        </p:txBody>
      </p:sp>
      <p:sp>
        <p:nvSpPr>
          <p:cNvPr id="17" name="Shape 14"/>
          <p:cNvSpPr/>
          <p:nvPr/>
        </p:nvSpPr>
        <p:spPr>
          <a:xfrm>
            <a:off x="2963373" y="4078970"/>
            <a:ext cx="921990" cy="85725"/>
          </a:xfrm>
          <a:prstGeom prst="rect">
            <a:avLst/>
          </a:prstGeom>
          <a:solidFill>
            <a:srgbClr val="2D7D7B"/>
          </a:solidFill>
          <a:ln/>
        </p:spPr>
      </p:sp>
      <p:sp>
        <p:nvSpPr>
          <p:cNvPr id="18" name="Text 15"/>
          <p:cNvSpPr/>
          <p:nvPr/>
        </p:nvSpPr>
        <p:spPr>
          <a:xfrm>
            <a:off x="1357313" y="4529026"/>
            <a:ext cx="2974367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signe négatif indique une association inverse modérée dans le corpus observé.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53199" y="1772878"/>
            <a:ext cx="167387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DÉCISIONS POSITIVES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5053199" y="1976475"/>
            <a:ext cx="167387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 = 0,59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053199" y="2333662"/>
            <a:ext cx="167387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Corrélation entre candidatures et décisions positives officielles.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941381" y="1772878"/>
            <a:ext cx="1673926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SESSION MAXIMALE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6941381" y="1976475"/>
            <a:ext cx="167392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09/2021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941381" y="2333662"/>
            <a:ext cx="167392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Taux de Label observé : 86,7 %.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053199" y="2919450"/>
            <a:ext cx="167387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SESSION MINIMALE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5053199" y="3123047"/>
            <a:ext cx="167387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07/2024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53199" y="3480234"/>
            <a:ext cx="167387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Taux de Label observé : 15,2 %.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941381" y="2919450"/>
            <a:ext cx="1673926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LECTURE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941381" y="3123047"/>
            <a:ext cx="167392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Prudence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941381" y="3480234"/>
            <a:ext cx="167392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volume seul n’explique pas la sélection.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053199" y="3966009"/>
            <a:ext cx="3562108" cy="777106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À retenir pour la soutenance.</a:t>
            </a:r>
            <a:r>
              <a:rPr lang="en-US" sz="85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Ces coefficients décrivent une </a:t>
            </a:r>
            <a:r>
              <a:rPr lang="en-US" sz="85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association dans 88 sessions. Ils ne démontrent ni qu’un volume </a:t>
            </a:r>
            <a:r>
              <a:rPr lang="en-US" sz="85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élevé provoque une sélection plus stricte, ni qu’une session plus </a:t>
            </a:r>
            <a:r>
              <a:rPr lang="en-US" sz="85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grande améliore mécaniquement la qualité des dossiers.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1357313" y="4937559"/>
            <a:ext cx="7258050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: calculs de l’étude à partir de la série officielle des 88 sessions ; corrélations de Pearson descriptives.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4754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347543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1966540"/>
            <a:ext cx="103584" cy="1675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CONCENTRATION SECTORIELLE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0398" y="5022503"/>
            <a:ext cx="139303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08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43025" y="342900"/>
            <a:ext cx="5857875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08 · SECTEURS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43025" y="539353"/>
            <a:ext cx="5857875" cy="657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95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Quatre secteurs structurent la moitié de la base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7904559" y="342900"/>
            <a:ext cx="753666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09</a:t>
            </a:r>
            <a:endParaRPr lang="en-US" sz="4300" dirty="0"/>
          </a:p>
        </p:txBody>
      </p:sp>
      <p:sp>
        <p:nvSpPr>
          <p:cNvPr id="10" name="Shape 7"/>
          <p:cNvSpPr/>
          <p:nvPr/>
        </p:nvSpPr>
        <p:spPr>
          <a:xfrm>
            <a:off x="1343025" y="1389683"/>
            <a:ext cx="5214938" cy="2496741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1" name="Shape 8"/>
          <p:cNvSpPr/>
          <p:nvPr/>
        </p:nvSpPr>
        <p:spPr>
          <a:xfrm>
            <a:off x="1343025" y="1389683"/>
            <a:ext cx="5214938" cy="5000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1461120"/>
            <a:ext cx="5000625" cy="2143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28750" y="3661395"/>
            <a:ext cx="5043488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 10 des secteurs observés dans la base sectorielle du dépôt.</a:t>
            </a:r>
            <a:endParaRPr lang="en-US" sz="550" dirty="0"/>
          </a:p>
        </p:txBody>
      </p:sp>
      <p:sp>
        <p:nvSpPr>
          <p:cNvPr id="14" name="Text 10"/>
          <p:cNvSpPr/>
          <p:nvPr/>
        </p:nvSpPr>
        <p:spPr>
          <a:xfrm>
            <a:off x="6872288" y="1489695"/>
            <a:ext cx="178593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922</a:t>
            </a:r>
            <a:endParaRPr lang="en-US" sz="2050" dirty="0"/>
          </a:p>
        </p:txBody>
      </p:sp>
      <p:sp>
        <p:nvSpPr>
          <p:cNvPr id="15" name="Text 11"/>
          <p:cNvSpPr/>
          <p:nvPr/>
        </p:nvSpPr>
        <p:spPr>
          <a:xfrm>
            <a:off x="6872288" y="1818308"/>
            <a:ext cx="1785938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STARTUPS SECTORISÉES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6872288" y="1993329"/>
            <a:ext cx="1785938" cy="419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Population utilisée pour l’analyse de concentration, répartie entre 18 secteurs.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6872288" y="2598986"/>
            <a:ext cx="178593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51,6 %</a:t>
            </a:r>
            <a:endParaRPr lang="en-US" sz="2050" dirty="0"/>
          </a:p>
        </p:txBody>
      </p:sp>
      <p:sp>
        <p:nvSpPr>
          <p:cNvPr id="18" name="Text 14"/>
          <p:cNvSpPr/>
          <p:nvPr/>
        </p:nvSpPr>
        <p:spPr>
          <a:xfrm>
            <a:off x="6872288" y="2927598"/>
            <a:ext cx="1785938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TOP 4 DES SECTEURS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6872288" y="3102620"/>
            <a:ext cx="1785938" cy="419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Business Software &amp; Services, Commerce &amp; Shopping, HealthTech et EdTech.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6872288" y="3708276"/>
            <a:ext cx="178593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2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1 044</a:t>
            </a:r>
            <a:endParaRPr lang="en-US" sz="2050" dirty="0"/>
          </a:p>
        </p:txBody>
      </p:sp>
      <p:sp>
        <p:nvSpPr>
          <p:cNvPr id="21" name="Text 17"/>
          <p:cNvSpPr/>
          <p:nvPr/>
        </p:nvSpPr>
        <p:spPr>
          <a:xfrm>
            <a:off x="6872288" y="4036888"/>
            <a:ext cx="1785938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INDICE HHI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6872288" y="4211910"/>
            <a:ext cx="1785938" cy="419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Concentration modérée selon une lecture descriptive des parts sectorielles.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343025" y="4731841"/>
            <a:ext cx="7315200" cy="369243"/>
          </a:xfrm>
          <a:prstGeom prst="rect">
            <a:avLst/>
          </a:prstGeom>
          <a:noFill/>
          <a:ln/>
        </p:spPr>
        <p:txBody>
          <a:bodyPr wrap="square" lIns="0" tIns="110617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5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Interprétation.</a:t>
            </a:r>
            <a:r>
              <a:rPr lang="en-US" sz="6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La concentration relative des quatre premiers secteurs ne signifie pas que les autres domaines sont absents. Elle met en évidence un noyau de services </a:t>
            </a:r>
            <a:r>
              <a:rPr lang="en-US" sz="6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numériques et de solutions technologiques autour duquel se structure une part importante de la population observée.</a:t>
            </a:r>
            <a:endParaRPr lang="en-US" sz="650" dirty="0"/>
          </a:p>
        </p:txBody>
      </p:sp>
      <p:sp>
        <p:nvSpPr>
          <p:cNvPr id="24" name="Text 20"/>
          <p:cNvSpPr/>
          <p:nvPr/>
        </p:nvSpPr>
        <p:spPr>
          <a:xfrm>
            <a:off x="1343025" y="5158234"/>
            <a:ext cx="731520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: dashboard_data.json et calculs de l’étude académique. Les secteurs sont traités comme agrégats descriptifs.</a:t>
            </a:r>
            <a:endParaRPr lang="en-US" sz="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7770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777061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2258095"/>
            <a:ext cx="103584" cy="15716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DYNAMIQUES TERRITORIALES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0398" y="5502027"/>
            <a:ext cx="139303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43025" y="342900"/>
            <a:ext cx="5857875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09 · GÉOGRAPHIE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43025" y="539353"/>
            <a:ext cx="5857875" cy="651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9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Le Grand Tunis reste dominant, mais le Centre-Est progresse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011716" y="342900"/>
            <a:ext cx="646509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10</a:t>
            </a:r>
            <a:endParaRPr lang="en-US" sz="4300" dirty="0"/>
          </a:p>
        </p:txBody>
      </p:sp>
      <p:sp>
        <p:nvSpPr>
          <p:cNvPr id="10" name="Shape 7"/>
          <p:cNvSpPr/>
          <p:nvPr/>
        </p:nvSpPr>
        <p:spPr>
          <a:xfrm>
            <a:off x="1343025" y="1405086"/>
            <a:ext cx="5214938" cy="2475309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1" name="Shape 8"/>
          <p:cNvSpPr/>
          <p:nvPr/>
        </p:nvSpPr>
        <p:spPr>
          <a:xfrm>
            <a:off x="1343025" y="1405086"/>
            <a:ext cx="5214938" cy="5000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038" y="1490811"/>
            <a:ext cx="5000625" cy="2143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43038" y="3683943"/>
            <a:ext cx="5014913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Parts régionales publiées dans les rapports annuels ; nomenclature harmonisée uniquement pour comparer les années.</a:t>
            </a:r>
            <a:endParaRPr lang="en-US" sz="550" dirty="0"/>
          </a:p>
        </p:txBody>
      </p:sp>
      <p:sp>
        <p:nvSpPr>
          <p:cNvPr id="14" name="Text 10"/>
          <p:cNvSpPr/>
          <p:nvPr/>
        </p:nvSpPr>
        <p:spPr>
          <a:xfrm>
            <a:off x="6858000" y="1526530"/>
            <a:ext cx="1800225" cy="52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20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75,4 → 70,09 %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858000" y="2112318"/>
            <a:ext cx="1800225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GRAND TUNIS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6858000" y="2287339"/>
            <a:ext cx="1800225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04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concentration baisse légèrement, mais reste largement dominante sur les trois années.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6858000" y="2936974"/>
            <a:ext cx="1800225" cy="52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20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10,5 → 13,85 %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6858000" y="3522762"/>
            <a:ext cx="1800225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CENTRE-EST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6858000" y="3697784"/>
            <a:ext cx="1800225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04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progression la plus nette entre 2019 et 2021 dans les agrégats publiés.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6858000" y="4209455"/>
            <a:ext cx="1800225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20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62,3 %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6858000" y="4530923"/>
            <a:ext cx="1800225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EMPLOIS 2021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6858000" y="4705945"/>
            <a:ext cx="1800225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04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 des emplois créés localisés dans le Grand Tunis, indicateur différent de la localisation des startups.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343025" y="5255568"/>
            <a:ext cx="23431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b="1" spc="1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2019</a:t>
            </a:r>
            <a:endParaRPr lang="en-US" sz="550" dirty="0"/>
          </a:p>
        </p:txBody>
      </p:sp>
      <p:sp>
        <p:nvSpPr>
          <p:cNvPr id="24" name="Text 20"/>
          <p:cNvSpPr/>
          <p:nvPr/>
        </p:nvSpPr>
        <p:spPr>
          <a:xfrm>
            <a:off x="1343025" y="5402014"/>
            <a:ext cx="23431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75,4 % </a:t>
            </a:r>
            <a:r>
              <a:rPr lang="en-US" sz="6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Grand Tunis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3829050" y="5255568"/>
            <a:ext cx="23431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b="1" spc="1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2020</a:t>
            </a:r>
            <a:endParaRPr lang="en-US" sz="550" dirty="0"/>
          </a:p>
        </p:txBody>
      </p:sp>
      <p:sp>
        <p:nvSpPr>
          <p:cNvPr id="26" name="Text 22"/>
          <p:cNvSpPr/>
          <p:nvPr/>
        </p:nvSpPr>
        <p:spPr>
          <a:xfrm>
            <a:off x="3829050" y="5402014"/>
            <a:ext cx="23431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70,5 % </a:t>
            </a:r>
            <a:r>
              <a:rPr lang="en-US" sz="6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Grand Tunis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315075" y="5255568"/>
            <a:ext cx="23431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b="1" spc="1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2021</a:t>
            </a:r>
            <a:endParaRPr lang="en-US" sz="550" dirty="0"/>
          </a:p>
        </p:txBody>
      </p:sp>
      <p:sp>
        <p:nvSpPr>
          <p:cNvPr id="28" name="Text 24"/>
          <p:cNvSpPr/>
          <p:nvPr/>
        </p:nvSpPr>
        <p:spPr>
          <a:xfrm>
            <a:off x="6315075" y="5402014"/>
            <a:ext cx="23431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70,09 % </a:t>
            </a:r>
            <a:r>
              <a:rPr lang="en-US" sz="60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Grand Tunis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43025" y="5673477"/>
            <a:ext cx="731520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: rapports annuels Startup Tunisia 2019–2020, 2020 et 2021. Les pourcentages sont des agrégats institutionnels, non une géolocalisation individuelle exhaustive.</a:t>
            </a:r>
            <a:endParaRPr lang="en-US" sz="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435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24288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48258" y="2057400"/>
            <a:ext cx="103584" cy="1289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INTERNATIONALISATION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30398" y="4818459"/>
            <a:ext cx="139303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343025" y="342900"/>
            <a:ext cx="6072188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09 · OUVERTURE INTERNATIONALE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343025" y="539353"/>
            <a:ext cx="6072188" cy="623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85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L’internationalisation progresse du côté des implantations étrangères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8301038" y="342900"/>
            <a:ext cx="500063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30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11</a:t>
            </a:r>
            <a:endParaRPr lang="en-US" sz="4300" dirty="0"/>
          </a:p>
        </p:txBody>
      </p:sp>
      <p:sp>
        <p:nvSpPr>
          <p:cNvPr id="10" name="Text 7"/>
          <p:cNvSpPr/>
          <p:nvPr/>
        </p:nvSpPr>
        <p:spPr>
          <a:xfrm>
            <a:off x="1343025" y="1341686"/>
            <a:ext cx="5929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rapports annuels distinguent deux phénomènes : l’expansion des startups tunisiennes à l’étranger et l’arrivée de startups étrangères ayant une filiale en Tunisie.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1343025" y="1747428"/>
            <a:ext cx="3629025" cy="1595735"/>
          </a:xfrm>
          <a:prstGeom prst="rect">
            <a:avLst/>
          </a:prstGeom>
          <a:solidFill>
            <a:srgbClr val="E3EBF2"/>
          </a:solidFill>
          <a:ln/>
        </p:spPr>
      </p:sp>
      <p:sp>
        <p:nvSpPr>
          <p:cNvPr id="12" name="Shape 9"/>
          <p:cNvSpPr/>
          <p:nvPr/>
        </p:nvSpPr>
        <p:spPr>
          <a:xfrm>
            <a:off x="1343025" y="1747428"/>
            <a:ext cx="3629025" cy="57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0"/>
          <p:cNvSpPr/>
          <p:nvPr/>
        </p:nvSpPr>
        <p:spPr>
          <a:xfrm>
            <a:off x="1514475" y="1847441"/>
            <a:ext cx="3314700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STARTUPS TUNISIENNES À L’INTERNATIONAL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514475" y="2051038"/>
            <a:ext cx="3314700" cy="5857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5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13</a:t>
            </a:r>
            <a:endParaRPr lang="en-US" sz="4500" dirty="0"/>
          </a:p>
        </p:txBody>
      </p:sp>
      <p:sp>
        <p:nvSpPr>
          <p:cNvPr id="15" name="Text 12"/>
          <p:cNvSpPr/>
          <p:nvPr/>
        </p:nvSpPr>
        <p:spPr>
          <a:xfrm>
            <a:off x="1514475" y="2665400"/>
            <a:ext cx="33147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en 2020 et 2021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514475" y="2924361"/>
            <a:ext cx="3314700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0400"/>
              </a:lnSpc>
              <a:buNone/>
            </a:pPr>
            <a:r>
              <a:rPr lang="en-US" sz="7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6 en 2019.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Le rapport 2020 indique 16 filiales cumulées ; en 2021, le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nombre de startups reste stable par rapport à 2020.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5172075" y="1747428"/>
            <a:ext cx="3629025" cy="1595735"/>
          </a:xfrm>
          <a:prstGeom prst="rect">
            <a:avLst/>
          </a:prstGeom>
          <a:solidFill>
            <a:srgbClr val="DBE9E8"/>
          </a:solidFill>
          <a:ln/>
        </p:spPr>
      </p:sp>
      <p:sp>
        <p:nvSpPr>
          <p:cNvPr id="18" name="Shape 15"/>
          <p:cNvSpPr/>
          <p:nvPr/>
        </p:nvSpPr>
        <p:spPr>
          <a:xfrm>
            <a:off x="5172075" y="1747428"/>
            <a:ext cx="3629025" cy="57150"/>
          </a:xfrm>
          <a:prstGeom prst="rect">
            <a:avLst/>
          </a:prstGeom>
          <a:solidFill>
            <a:srgbClr val="2D7D7B"/>
          </a:solidFill>
          <a:ln/>
        </p:spPr>
      </p:sp>
      <p:sp>
        <p:nvSpPr>
          <p:cNvPr id="19" name="Text 16"/>
          <p:cNvSpPr/>
          <p:nvPr/>
        </p:nvSpPr>
        <p:spPr>
          <a:xfrm>
            <a:off x="5343525" y="1847441"/>
            <a:ext cx="3314700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STARTUPS ÉTRANGÈRES EN TUNISIE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343525" y="2051038"/>
            <a:ext cx="3314700" cy="5857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45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49</a:t>
            </a:r>
            <a:endParaRPr lang="en-US" sz="4500" dirty="0"/>
          </a:p>
        </p:txBody>
      </p:sp>
      <p:sp>
        <p:nvSpPr>
          <p:cNvPr id="21" name="Text 18"/>
          <p:cNvSpPr/>
          <p:nvPr/>
        </p:nvSpPr>
        <p:spPr>
          <a:xfrm>
            <a:off x="5343525" y="2665400"/>
            <a:ext cx="33147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en 2021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43525" y="2924361"/>
            <a:ext cx="3314700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0400"/>
              </a:lnSpc>
              <a:buNone/>
            </a:pPr>
            <a:r>
              <a:rPr lang="en-US" sz="700" b="1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19 en 2020.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En 2021, les sièges étrangers comprennent 27 en France, 5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aux États-Unis, 4 au Royaume-Uni et 5 aux Pays-Bas.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1343025" y="3450320"/>
            <a:ext cx="2125991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EMPLOIS CRÉÉS PAR RÉGION · 2021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6936581" y="3471751"/>
            <a:ext cx="1864519" cy="110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Mesure distincte de la localisation des startups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1343025" y="3746785"/>
            <a:ext cx="1388734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62,3 %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1343025" y="4057538"/>
            <a:ext cx="1388734" cy="111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" spc="1" kern="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GRAND TUNIS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1343025" y="4197511"/>
            <a:ext cx="1388734" cy="1021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 de gravité des emplois créés.</a:t>
            </a:r>
            <a:endParaRPr lang="en-US" sz="550" dirty="0"/>
          </a:p>
        </p:txBody>
      </p:sp>
      <p:sp>
        <p:nvSpPr>
          <p:cNvPr id="28" name="Text 25"/>
          <p:cNvSpPr/>
          <p:nvPr/>
        </p:nvSpPr>
        <p:spPr>
          <a:xfrm>
            <a:off x="2860346" y="3746785"/>
            <a:ext cx="1388734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13,3 %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2860346" y="4057538"/>
            <a:ext cx="1388734" cy="111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" spc="1" kern="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860346" y="4197511"/>
            <a:ext cx="1388734" cy="1021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Deuxième espace d’attractivité.</a:t>
            </a:r>
            <a:endParaRPr lang="en-US" sz="550" dirty="0"/>
          </a:p>
        </p:txBody>
      </p:sp>
      <p:sp>
        <p:nvSpPr>
          <p:cNvPr id="31" name="Text 28"/>
          <p:cNvSpPr/>
          <p:nvPr/>
        </p:nvSpPr>
        <p:spPr>
          <a:xfrm>
            <a:off x="4377668" y="3746785"/>
            <a:ext cx="1388734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12,2 %</a:t>
            </a:r>
            <a:endParaRPr lang="en-US" sz="1650" dirty="0"/>
          </a:p>
        </p:txBody>
      </p:sp>
      <p:sp>
        <p:nvSpPr>
          <p:cNvPr id="32" name="Text 29"/>
          <p:cNvSpPr/>
          <p:nvPr/>
        </p:nvSpPr>
        <p:spPr>
          <a:xfrm>
            <a:off x="4377668" y="4057538"/>
            <a:ext cx="1388734" cy="111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" spc="1" kern="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NORD-EST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4377668" y="4197511"/>
            <a:ext cx="1388734" cy="1021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Troisième contribution régionale.</a:t>
            </a:r>
            <a:endParaRPr lang="en-US" sz="550" dirty="0"/>
          </a:p>
        </p:txBody>
      </p:sp>
      <p:sp>
        <p:nvSpPr>
          <p:cNvPr id="34" name="Text 31"/>
          <p:cNvSpPr/>
          <p:nvPr/>
        </p:nvSpPr>
        <p:spPr>
          <a:xfrm>
            <a:off x="5894989" y="3746785"/>
            <a:ext cx="1388734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5,6 %</a:t>
            </a:r>
            <a:endParaRPr lang="en-US" sz="1650" dirty="0"/>
          </a:p>
        </p:txBody>
      </p:sp>
      <p:sp>
        <p:nvSpPr>
          <p:cNvPr id="35" name="Text 32"/>
          <p:cNvSpPr/>
          <p:nvPr/>
        </p:nvSpPr>
        <p:spPr>
          <a:xfrm>
            <a:off x="5894989" y="4057538"/>
            <a:ext cx="1388734" cy="111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" spc="1" kern="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SUD-EST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5894989" y="4197511"/>
            <a:ext cx="1388734" cy="1021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 minoritaire mais visible.</a:t>
            </a:r>
            <a:endParaRPr lang="en-US" sz="550" dirty="0"/>
          </a:p>
        </p:txBody>
      </p:sp>
      <p:sp>
        <p:nvSpPr>
          <p:cNvPr id="37" name="Text 34"/>
          <p:cNvSpPr/>
          <p:nvPr/>
        </p:nvSpPr>
        <p:spPr>
          <a:xfrm>
            <a:off x="7412310" y="3746785"/>
            <a:ext cx="1388734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02A43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2,8 %</a:t>
            </a:r>
            <a:endParaRPr lang="en-US" sz="1650" dirty="0"/>
          </a:p>
        </p:txBody>
      </p:sp>
      <p:sp>
        <p:nvSpPr>
          <p:cNvPr id="38" name="Text 35"/>
          <p:cNvSpPr/>
          <p:nvPr/>
        </p:nvSpPr>
        <p:spPr>
          <a:xfrm>
            <a:off x="7412310" y="4057538"/>
            <a:ext cx="1388734" cy="111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" spc="1" kern="0" dirty="0">
                <a:solidFill>
                  <a:srgbClr val="334E6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NORD-OUEST</a:t>
            </a:r>
            <a:endParaRPr lang="en-US" sz="600" dirty="0"/>
          </a:p>
        </p:txBody>
      </p:sp>
      <p:sp>
        <p:nvSpPr>
          <p:cNvPr id="39" name="Text 36"/>
          <p:cNvSpPr/>
          <p:nvPr/>
        </p:nvSpPr>
        <p:spPr>
          <a:xfrm>
            <a:off x="7412310" y="4197511"/>
            <a:ext cx="1388734" cy="1021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 publiée dans le rapport.</a:t>
            </a:r>
            <a:endParaRPr lang="en-US" sz="550" dirty="0"/>
          </a:p>
        </p:txBody>
      </p:sp>
      <p:sp>
        <p:nvSpPr>
          <p:cNvPr id="40" name="Text 37"/>
          <p:cNvSpPr/>
          <p:nvPr/>
        </p:nvSpPr>
        <p:spPr>
          <a:xfrm>
            <a:off x="1343025" y="4371082"/>
            <a:ext cx="7458075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50" b="1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Lecture prudente.</a:t>
            </a: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Une implantation mesure une présence organisationnelle ; elle ne mesure pas directement le chiffre d’affaires, les investissements ou la survie de la filiale. Source : rapports annuels </a:t>
            </a:r>
            <a:r>
              <a:rPr lang="en-US" sz="55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Startup Tunisia 2019–2021.</a:t>
            </a:r>
            <a:endParaRPr lang="en-US" sz="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00100" cy="51435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4" name="Text 1"/>
          <p:cNvSpPr/>
          <p:nvPr/>
        </p:nvSpPr>
        <p:spPr>
          <a:xfrm>
            <a:off x="228600" y="185738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150" spc="-2" kern="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 rot="10800000">
            <a:off x="353616" y="2402644"/>
            <a:ext cx="92869" cy="7382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A9BFD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CONCLUSION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41226" y="5014913"/>
            <a:ext cx="11759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2" kern="0" dirty="0">
                <a:solidFill>
                  <a:srgbClr val="D9770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285875" y="257175"/>
            <a:ext cx="4008872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627D98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11 · CONCLUSION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1285875" y="421481"/>
            <a:ext cx="4008872" cy="3121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9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Mesurer, documenter, puis décider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186738" y="257175"/>
            <a:ext cx="51435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3950" dirty="0">
                <a:solidFill>
                  <a:srgbClr val="D9E2EC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12</a:t>
            </a:r>
            <a:endParaRPr lang="en-US" sz="3950" dirty="0"/>
          </a:p>
        </p:txBody>
      </p:sp>
      <p:sp>
        <p:nvSpPr>
          <p:cNvPr id="10" name="Text 7"/>
          <p:cNvSpPr/>
          <p:nvPr/>
        </p:nvSpPr>
        <p:spPr>
          <a:xfrm>
            <a:off x="1285875" y="1064419"/>
            <a:ext cx="3550444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Ce que l’étude établit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85875" y="1382316"/>
            <a:ext cx="342900" cy="4068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7D7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721644" y="1382316"/>
            <a:ext cx="311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RÉSULTAT CENTRAL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1721644" y="1525191"/>
            <a:ext cx="3114675" cy="2639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700" b="1" dirty="0">
                <a:solidFill>
                  <a:srgbClr val="486581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1 356 Labels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et </a:t>
            </a:r>
            <a:r>
              <a:rPr lang="en-US" sz="700" b="1" dirty="0">
                <a:solidFill>
                  <a:srgbClr val="486581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641 Prélabels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soit 1 997 décisions positives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officielles sur 88 sessions.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285875" y="1924906"/>
            <a:ext cx="342900" cy="4068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7D7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721644" y="1924906"/>
            <a:ext cx="311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TRAJECTOIRE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721644" y="2067781"/>
            <a:ext cx="3114675" cy="2639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2021 concentre le plus grand volume avec 478 candidatures et 243 Labels.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285875" y="2467496"/>
            <a:ext cx="342900" cy="5388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7D7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721644" y="2467496"/>
            <a:ext cx="311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REPORTS CONFIRMÉS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1721644" y="2610371"/>
            <a:ext cx="3114675" cy="395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Cinq lignes Reporté sont confirmées : S11, S12, S28, S30 et S67. SHYK et RYBSEN restent suivies dans les sessions ultérieures publiées.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5150644" y="1064419"/>
            <a:ext cx="3550444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Ce qu’il faut encore documenter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150644" y="1382316"/>
            <a:ext cx="342900" cy="4068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586413" y="1382316"/>
            <a:ext cx="311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TROIS PÉRIMÈTRES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5586413" y="1525191"/>
            <a:ext cx="3114675" cy="2639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700" b="1" dirty="0">
                <a:solidFill>
                  <a:srgbClr val="486581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3 079 officielles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700" b="1" dirty="0">
                <a:solidFill>
                  <a:srgbClr val="486581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3 555 lignes PDF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et </a:t>
            </a:r>
            <a:r>
              <a:rPr lang="en-US" sz="700" b="1" dirty="0">
                <a:solidFill>
                  <a:srgbClr val="486581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3 558 corrigées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: le dernier </a:t>
            </a: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ajoute 3 ajournés hors PDF.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150644" y="1924906"/>
            <a:ext cx="342900" cy="5388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586413" y="1924906"/>
            <a:ext cx="311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CAS S62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586413" y="2067781"/>
            <a:ext cx="3114675" cy="395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Mai 2024 compte 39 candidatures officielles mais 46 lignes PDF : 5 conversions, 2 retraits et 4 dossiers administratifs sans décision précisée.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5150644" y="2599488"/>
            <a:ext cx="342900" cy="5388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586413" y="2599488"/>
            <a:ext cx="311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102A43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PROVENANCE INDIVIDUELLE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5586413" y="2742363"/>
            <a:ext cx="3114675" cy="395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750" dirty="0">
                <a:solidFill>
                  <a:srgbClr val="48658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 3 ajournés hors PDF — 2 en 03/2019 et 1 en 06/2019 — sont conservés séparément, car leurs noms ne sont pas publiés dans les éléments disponibles.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285875" y="4261358"/>
            <a:ext cx="7415213" cy="728551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1" name="Shape 28"/>
          <p:cNvSpPr/>
          <p:nvPr/>
        </p:nvSpPr>
        <p:spPr>
          <a:xfrm>
            <a:off x="1285875" y="4261358"/>
            <a:ext cx="7415213" cy="5000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Text 29"/>
          <p:cNvSpPr/>
          <p:nvPr/>
        </p:nvSpPr>
        <p:spPr>
          <a:xfrm>
            <a:off x="1428750" y="4397090"/>
            <a:ext cx="5557838" cy="3599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La priorité suivante : publier un dictionnaire de données et résoudre chaque divergence par la source primaire.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1428750" y="4792787"/>
            <a:ext cx="5000625" cy="111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" dirty="0">
                <a:solidFill>
                  <a:srgbClr val="C6D5E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Une base transparente ne masque pas ses écarts : elle les rend vérifiables, discutables et corrigibles.</a:t>
            </a:r>
            <a:endParaRPr lang="en-US" sz="600" dirty="0"/>
          </a:p>
        </p:txBody>
      </p:sp>
      <p:sp>
        <p:nvSpPr>
          <p:cNvPr id="34" name="Text 31"/>
          <p:cNvSpPr/>
          <p:nvPr/>
        </p:nvSpPr>
        <p:spPr>
          <a:xfrm>
            <a:off x="6986588" y="4479187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Merci</a:t>
            </a:r>
            <a:r>
              <a:rPr lang="en-US" sz="105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
</a:t>
            </a:r>
            <a:r>
              <a:rPr lang="en-US" sz="1050" dirty="0">
                <a:solidFill>
                  <a:srgbClr val="D97706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Questions &amp; discussion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285875" y="5047059"/>
            <a:ext cx="7415213" cy="82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00" dirty="0">
                <a:solidFill>
                  <a:srgbClr val="627D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: Startup Tunisia, comptes rendus PDF S0–S87, rapport annuel 2019–2021 et exports audités du dépôt. Les trois périmètres sont documentés séparément.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2026-08-23T14:16:40Z</dcterms:created>
  <dcterms:modified xsi:type="dcterms:W3CDTF">2026-08-23T14:16:40Z</dcterms:modified>
</cp:coreProperties>
</file>